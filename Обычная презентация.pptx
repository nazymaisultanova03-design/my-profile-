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143500" cx="9144000"/>
  <p:notesSz cx="6858000" cy="9144000"/>
  <p:embeddedFontLst>
    <p:embeddedFont>
      <p:font typeface="Roboto"/>
      <p:regular r:id="rId14"/>
      <p:bold r:id="rId15"/>
      <p:italic r:id="rId16"/>
      <p:boldItalic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Roboto-bold.fntdata"/><Relationship Id="rId14" Type="http://schemas.openxmlformats.org/officeDocument/2006/relationships/font" Target="fonts/Roboto-regular.fntdata"/><Relationship Id="rId17" Type="http://schemas.openxmlformats.org/officeDocument/2006/relationships/font" Target="fonts/Roboto-boldItalic.fntdata"/><Relationship Id="rId16" Type="http://schemas.openxmlformats.org/officeDocument/2006/relationships/font" Target="fonts/Roboto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c6f73a04f_0_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c6f73a04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c6f73a04f_0_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c6f73a04f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c6f73a04f_0_9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c6f73a04f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c6f73a04f_0_14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c6f73a04f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c6f73a04f_0_2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c6f73a04f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c6f73a04f_0_2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c6f73a04f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c6f73a04f_0_3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c6f73a04f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c6f73a04f_0_4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c6f73a04f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flipH="1">
            <a:off x="8246400" y="4245925"/>
            <a:ext cx="897600" cy="8976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8246400" y="4245875"/>
            <a:ext cx="897600" cy="897600"/>
          </a:xfrm>
          <a:prstGeom prst="round1Rect">
            <a:avLst>
              <a:gd fmla="val 16667" name="adj"/>
            </a:avLst>
          </a:prstGeom>
          <a:solidFill>
            <a:schemeClr val="lt1">
              <a:alpha val="6808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0950" y="2065350"/>
            <a:ext cx="8222100" cy="101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4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4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5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5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" type="body"/>
          </p:nvPr>
        </p:nvSpPr>
        <p:spPr>
          <a:xfrm>
            <a:off x="47190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2" type="body"/>
          </p:nvPr>
        </p:nvSpPr>
        <p:spPr>
          <a:xfrm>
            <a:off x="469425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p5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/>
          <p:nvPr/>
        </p:nvSpPr>
        <p:spPr>
          <a:xfrm flipH="1" rot="10800000">
            <a:off x="0" y="656400"/>
            <a:ext cx="9144000" cy="448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6"/>
          <p:cNvSpPr/>
          <p:nvPr/>
        </p:nvSpPr>
        <p:spPr>
          <a:xfrm>
            <a:off x="0" y="65635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6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/>
          <p:nvPr/>
        </p:nvSpPr>
        <p:spPr>
          <a:xfrm flipH="1" rot="10800000">
            <a:off x="3276600" y="25"/>
            <a:ext cx="58674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7"/>
          <p:cNvSpPr/>
          <p:nvPr/>
        </p:nvSpPr>
        <p:spPr>
          <a:xfrm rot="-5400000">
            <a:off x="759150" y="2517450"/>
            <a:ext cx="51435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7"/>
          <p:cNvSpPr txBox="1"/>
          <p:nvPr>
            <p:ph type="title"/>
          </p:nvPr>
        </p:nvSpPr>
        <p:spPr>
          <a:xfrm>
            <a:off x="226078" y="357800"/>
            <a:ext cx="2808000" cy="95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0" name="Google Shape;40;p7"/>
          <p:cNvSpPr txBox="1"/>
          <p:nvPr>
            <p:ph idx="1" type="body"/>
          </p:nvPr>
        </p:nvSpPr>
        <p:spPr>
          <a:xfrm>
            <a:off x="226075" y="1465800"/>
            <a:ext cx="2808000" cy="31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1" name="Google Shape;41;p7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/>
          <p:nvPr>
            <p:ph type="title"/>
          </p:nvPr>
        </p:nvSpPr>
        <p:spPr>
          <a:xfrm>
            <a:off x="490250" y="488250"/>
            <a:ext cx="62271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44" name="Google Shape;44;p8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/>
          <p:nvPr/>
        </p:nvSpPr>
        <p:spPr>
          <a:xfrm flipH="1">
            <a:off x="0" y="0"/>
            <a:ext cx="45720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9"/>
          <p:cNvSpPr/>
          <p:nvPr/>
        </p:nvSpPr>
        <p:spPr>
          <a:xfrm rot="5400000">
            <a:off x="1946425" y="2517750"/>
            <a:ext cx="51429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9" name="Google Shape;49;p9"/>
          <p:cNvSpPr txBox="1"/>
          <p:nvPr>
            <p:ph idx="1" type="subTitle"/>
          </p:nvPr>
        </p:nvSpPr>
        <p:spPr>
          <a:xfrm>
            <a:off x="265500" y="2779467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0" name="Google Shape;50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" name="Google Shape;51;p9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/>
          <p:nvPr/>
        </p:nvSpPr>
        <p:spPr>
          <a:xfrm flipH="1" rot="10800000">
            <a:off x="0" y="0"/>
            <a:ext cx="9144000" cy="46959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10"/>
          <p:cNvSpPr/>
          <p:nvPr/>
        </p:nvSpPr>
        <p:spPr>
          <a:xfrm flipH="1" rot="10800000">
            <a:off x="0" y="4622725"/>
            <a:ext cx="9144000" cy="741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0"/>
          <p:cNvSpPr txBox="1"/>
          <p:nvPr>
            <p:ph idx="1" type="body"/>
          </p:nvPr>
        </p:nvSpPr>
        <p:spPr>
          <a:xfrm>
            <a:off x="57150" y="4696825"/>
            <a:ext cx="8382000" cy="44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</a:lstStyle>
          <a:p/>
        </p:txBody>
      </p:sp>
      <p:sp>
        <p:nvSpPr>
          <p:cNvPr id="56" name="Google Shape;56;p10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4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1"/>
          <p:cNvSpPr txBox="1"/>
          <p:nvPr>
            <p:ph hasCustomPrompt="1" type="title"/>
          </p:nvPr>
        </p:nvSpPr>
        <p:spPr>
          <a:xfrm>
            <a:off x="475500" y="1258525"/>
            <a:ext cx="82221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9" name="Google Shape;59;p11"/>
          <p:cNvSpPr txBox="1"/>
          <p:nvPr>
            <p:ph idx="1" type="body"/>
          </p:nvPr>
        </p:nvSpPr>
        <p:spPr>
          <a:xfrm>
            <a:off x="475500" y="3304625"/>
            <a:ext cx="82221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0" name="Google Shape;60;p1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chemeClr val="accent4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2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aterial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Char char="●"/>
              <a:defRPr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jpg"/><Relationship Id="rId4" Type="http://schemas.openxmlformats.org/officeDocument/2006/relationships/image" Target="../media/image3.jpg"/><Relationship Id="rId5" Type="http://schemas.openxmlformats.org/officeDocument/2006/relationships/image" Target="../media/image2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3"/>
          <p:cNvSpPr txBox="1"/>
          <p:nvPr>
            <p:ph type="ctrTitle"/>
          </p:nvPr>
        </p:nvSpPr>
        <p:spPr>
          <a:xfrm>
            <a:off x="405475" y="989450"/>
            <a:ext cx="8222100" cy="93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Interactive Space Hub</a:t>
            </a:r>
            <a:endParaRPr/>
          </a:p>
        </p:txBody>
      </p:sp>
      <p:sp>
        <p:nvSpPr>
          <p:cNvPr id="68" name="Google Shape;68;p13"/>
          <p:cNvSpPr txBox="1"/>
          <p:nvPr>
            <p:ph idx="1" type="subTitle"/>
          </p:nvPr>
        </p:nvSpPr>
        <p:spPr>
          <a:xfrm>
            <a:off x="405475" y="2819055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400"/>
              <a:t>Aisultanova Nazym</a:t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400"/>
              <a:t>4240-kzh</a:t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400"/>
              <a:t>Amit Joshi</a:t>
            </a:r>
            <a:endParaRPr sz="2400"/>
          </a:p>
        </p:txBody>
      </p:sp>
      <p:sp>
        <p:nvSpPr>
          <p:cNvPr id="69" name="Google Shape;69;p13"/>
          <p:cNvSpPr txBox="1"/>
          <p:nvPr/>
        </p:nvSpPr>
        <p:spPr>
          <a:xfrm>
            <a:off x="2564275" y="2683900"/>
            <a:ext cx="7500" cy="13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4"/>
          <p:cNvSpPr txBox="1"/>
          <p:nvPr>
            <p:ph type="title"/>
          </p:nvPr>
        </p:nvSpPr>
        <p:spPr>
          <a:xfrm>
            <a:off x="460950" y="2065350"/>
            <a:ext cx="8222100" cy="101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ru" sz="2600"/>
              <a:t>The Assessment Creation Challenge</a:t>
            </a:r>
            <a:endParaRPr b="1" i="1" sz="2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600"/>
              <a:t>Learning astronomy should feel like exploring space —</a:t>
            </a:r>
            <a:endParaRPr sz="2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600"/>
              <a:t>but most assessments feel like reading a manual.</a:t>
            </a:r>
            <a:endParaRPr sz="2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600"/>
              <a:t>Students struggle to imagine how planets move,</a:t>
            </a:r>
            <a:endParaRPr sz="2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600"/>
              <a:t>how far they are from the Sun,</a:t>
            </a:r>
            <a:endParaRPr sz="2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600"/>
              <a:t>and how space actually works.</a:t>
            </a:r>
            <a:endParaRPr sz="2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600"/>
              <a:t>Static text and simple quizzes fail to inspire curiosity</a:t>
            </a:r>
            <a:endParaRPr sz="2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600"/>
              <a:t>and limit real understanding of space science.</a:t>
            </a:r>
            <a:endParaRPr sz="2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5"/>
          <p:cNvSpPr txBox="1"/>
          <p:nvPr>
            <p:ph type="title"/>
          </p:nvPr>
        </p:nvSpPr>
        <p:spPr>
          <a:xfrm>
            <a:off x="613950" y="63407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The Cost of Manual Assessment Creation</a:t>
            </a:r>
            <a:endParaRPr/>
          </a:p>
        </p:txBody>
      </p:sp>
      <p:sp>
        <p:nvSpPr>
          <p:cNvPr id="80" name="Google Shape;80;p15"/>
          <p:cNvSpPr txBox="1"/>
          <p:nvPr>
            <p:ph idx="1" type="body"/>
          </p:nvPr>
        </p:nvSpPr>
        <p:spPr>
          <a:xfrm>
            <a:off x="471900" y="1919075"/>
            <a:ext cx="8222100" cy="229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/>
              <a:t>Behind every traditional assessment is a long and tiring process.</a:t>
            </a:r>
            <a:endParaRPr sz="13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 sz="1300"/>
              <a:t>Educators manually create content,update questions,check answers,</a:t>
            </a:r>
            <a:endParaRPr sz="13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 sz="1300"/>
              <a:t>and repeat the process again and again.In a fast-changing field like space science,</a:t>
            </a:r>
            <a:endParaRPr sz="13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ru" sz="1300"/>
              <a:t>this approach wastes time, energy, and resources.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6"/>
          <p:cNvSpPr txBox="1"/>
          <p:nvPr>
            <p:ph type="title"/>
          </p:nvPr>
        </p:nvSpPr>
        <p:spPr>
          <a:xfrm>
            <a:off x="225200" y="50697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Our Solution: Interactive Space Hub</a:t>
            </a:r>
            <a:endParaRPr/>
          </a:p>
        </p:txBody>
      </p:sp>
      <p:sp>
        <p:nvSpPr>
          <p:cNvPr id="86" name="Google Shape;86;p16"/>
          <p:cNvSpPr txBox="1"/>
          <p:nvPr>
            <p:ph idx="1" type="body"/>
          </p:nvPr>
        </p:nvSpPr>
        <p:spPr>
          <a:xfrm>
            <a:off x="47190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/>
              <a:t>1</a:t>
            </a:r>
            <a:r>
              <a:rPr lang="ru"/>
              <a:t>.Interactive Space Hub transforms learning into exploration.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/>
              <a:t>2.Instead of reading about planets,users see them move.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6"/>
          <p:cNvSpPr txBox="1"/>
          <p:nvPr>
            <p:ph idx="2" type="body"/>
          </p:nvPr>
        </p:nvSpPr>
        <p:spPr>
          <a:xfrm>
            <a:off x="469425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3.</a:t>
            </a:r>
            <a:r>
              <a:rPr lang="ru"/>
              <a:t>Instead of memorizing facts,they interact, discover, and test knowledge.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/>
              <a:t>4.All learning tools are combined into one powerful web application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7"/>
          <p:cNvSpPr txBox="1"/>
          <p:nvPr>
            <p:ph type="title"/>
          </p:nvPr>
        </p:nvSpPr>
        <p:spPr>
          <a:xfrm>
            <a:off x="233553" y="1539025"/>
            <a:ext cx="2808000" cy="95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How It Works</a:t>
            </a:r>
            <a:endParaRPr/>
          </a:p>
        </p:txBody>
      </p:sp>
      <p:sp>
        <p:nvSpPr>
          <p:cNvPr id="93" name="Google Shape;93;p17"/>
          <p:cNvSpPr txBox="1"/>
          <p:nvPr>
            <p:ph idx="1" type="body"/>
          </p:nvPr>
        </p:nvSpPr>
        <p:spPr>
          <a:xfrm>
            <a:off x="4150925" y="952625"/>
            <a:ext cx="3743700" cy="366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rgbClr val="000000"/>
                </a:solidFill>
              </a:rPr>
              <a:t>The journey starts on a single dashboard.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>
                <a:solidFill>
                  <a:srgbClr val="000000"/>
                </a:solidFill>
              </a:rPr>
              <a:t>Users explore animated planetary orbits,click planets to reveal scientific facts,ead real-time space news,and test their knowledge through quizzes.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>
                <a:solidFill>
                  <a:srgbClr val="000000"/>
                </a:solidFill>
              </a:rPr>
              <a:t>Learning becomes a smooth, logical flow —from curiosity to understanding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8"/>
          <p:cNvSpPr txBox="1"/>
          <p:nvPr>
            <p:ph type="title"/>
          </p:nvPr>
        </p:nvSpPr>
        <p:spPr>
          <a:xfrm>
            <a:off x="311700" y="1249225"/>
            <a:ext cx="8520600" cy="1890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xx%</a:t>
            </a:r>
            <a:endParaRPr/>
          </a:p>
        </p:txBody>
      </p:sp>
      <p:sp>
        <p:nvSpPr>
          <p:cNvPr id="99" name="Google Shape;99;p18"/>
          <p:cNvSpPr txBox="1"/>
          <p:nvPr>
            <p:ph idx="1" type="body"/>
          </p:nvPr>
        </p:nvSpPr>
        <p:spPr>
          <a:xfrm>
            <a:off x="475500" y="3304625"/>
            <a:ext cx="82221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600"/>
              </a:spcAft>
              <a:buNone/>
            </a:pPr>
            <a:r>
              <a:rPr lang="ru"/>
              <a:t>Доб</a:t>
            </a:r>
            <a:endParaRPr/>
          </a:p>
        </p:txBody>
      </p:sp>
      <p:pic>
        <p:nvPicPr>
          <p:cNvPr id="100" name="Google Shape;100;p18" title="WhatsApp Image 2025-12-16 at 16.41.53 (1)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863" y="0"/>
            <a:ext cx="2754523" cy="51434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8" title="WhatsApp Image 2025-12-16 at 16.41.53.jpe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39835" y="0"/>
            <a:ext cx="276528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8" title="WhatsApp Image 2025-12-16 at 16.41.51.jpe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135348" y="0"/>
            <a:ext cx="2375654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9"/>
          <p:cNvSpPr txBox="1"/>
          <p:nvPr>
            <p:ph type="title"/>
          </p:nvPr>
        </p:nvSpPr>
        <p:spPr>
          <a:xfrm>
            <a:off x="5207175" y="1472400"/>
            <a:ext cx="29118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2100">
                <a:solidFill>
                  <a:schemeClr val="lt2"/>
                </a:solidFill>
              </a:rPr>
              <a:t>Powerful Features That Save Time</a:t>
            </a:r>
            <a:endParaRPr sz="2100">
              <a:solidFill>
                <a:schemeClr val="lt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19"/>
          <p:cNvSpPr txBox="1"/>
          <p:nvPr>
            <p:ph idx="1" type="subTitle"/>
          </p:nvPr>
        </p:nvSpPr>
        <p:spPr>
          <a:xfrm>
            <a:off x="295400" y="611417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Smart automation replaces manual work.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Quizzes check themselves.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News updates automatically.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Simulations explain complex ideas instantly.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This saves time for educators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and creates a richer learning experience for users.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0"/>
          <p:cNvSpPr txBox="1"/>
          <p:nvPr>
            <p:ph type="title"/>
          </p:nvPr>
        </p:nvSpPr>
        <p:spPr>
          <a:xfrm>
            <a:off x="188703" y="1352125"/>
            <a:ext cx="2808000" cy="95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400">
                <a:solidFill>
                  <a:srgbClr val="000000"/>
                </a:solidFill>
              </a:rPr>
              <a:t>Built with Modern Technology</a:t>
            </a:r>
            <a:endParaRPr b="1" sz="14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/>
          </a:p>
        </p:txBody>
      </p:sp>
      <p:sp>
        <p:nvSpPr>
          <p:cNvPr id="114" name="Google Shape;114;p20"/>
          <p:cNvSpPr txBox="1"/>
          <p:nvPr>
            <p:ph idx="1" type="body"/>
          </p:nvPr>
        </p:nvSpPr>
        <p:spPr>
          <a:xfrm>
            <a:off x="4119275" y="718200"/>
            <a:ext cx="3670800" cy="31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400">
                <a:solidFill>
                  <a:srgbClr val="000000"/>
                </a:solidFill>
              </a:rPr>
              <a:t> Interactive Space Hub is powered by modern web technologies.</a:t>
            </a:r>
            <a:endParaRPr sz="14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400">
                <a:solidFill>
                  <a:srgbClr val="000000"/>
                </a:solidFill>
              </a:rPr>
              <a:t>HTML and CSS shape the interface,</a:t>
            </a:r>
            <a:endParaRPr sz="14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400">
                <a:solidFill>
                  <a:srgbClr val="000000"/>
                </a:solidFill>
              </a:rPr>
              <a:t>JavaScript brings motion and logic to life,</a:t>
            </a:r>
            <a:endParaRPr sz="14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400">
                <a:solidFill>
                  <a:srgbClr val="000000"/>
                </a:solidFill>
              </a:rPr>
              <a:t>APIs connect the app to real space data.</a:t>
            </a:r>
            <a:endParaRPr sz="14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400">
                <a:solidFill>
                  <a:srgbClr val="000000"/>
                </a:solidFill>
              </a:rPr>
              <a:t>Optional 3D tools turn science into an immersive experience.</a:t>
            </a:r>
            <a:endParaRPr sz="14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aterial">
  <a:themeElements>
    <a:clrScheme name="Material">
      <a:dk1>
        <a:srgbClr val="4285F4"/>
      </a:dk1>
      <a:lt1>
        <a:srgbClr val="FFFFFF"/>
      </a:lt1>
      <a:dk2>
        <a:srgbClr val="424242"/>
      </a:dk2>
      <a:lt2>
        <a:srgbClr val="737373"/>
      </a:lt2>
      <a:accent1>
        <a:srgbClr val="0277BD"/>
      </a:accent1>
      <a:accent2>
        <a:srgbClr val="0F9D58"/>
      </a:accent2>
      <a:accent3>
        <a:srgbClr val="DB4437"/>
      </a:accent3>
      <a:accent4>
        <a:srgbClr val="FAFAFA"/>
      </a:accent4>
      <a:accent5>
        <a:srgbClr val="4FC3F7"/>
      </a:accent5>
      <a:accent6>
        <a:srgbClr val="F4B400"/>
      </a:accent6>
      <a:hlink>
        <a:srgbClr val="4FC3F7"/>
      </a:hlink>
      <a:folHlink>
        <a:srgbClr val="4FC3F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