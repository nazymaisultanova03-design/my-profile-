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aleway"/>
      <p:regular r:id="rId36"/>
      <p:bold r:id="rId37"/>
      <p:italic r:id="rId38"/>
      <p:boldItalic r:id="rId39"/>
    </p:embeddedFont>
    <p:embeddedFont>
      <p:font typeface="La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5.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Lat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bold.fntdata"/><Relationship Id="rId14" Type="http://schemas.openxmlformats.org/officeDocument/2006/relationships/slide" Target="slides/slide9.xml"/><Relationship Id="rId36" Type="http://schemas.openxmlformats.org/officeDocument/2006/relationships/font" Target="fonts/Raleway-regular.fntdata"/><Relationship Id="rId17" Type="http://schemas.openxmlformats.org/officeDocument/2006/relationships/slide" Target="slides/slide12.xml"/><Relationship Id="rId39" Type="http://schemas.openxmlformats.org/officeDocument/2006/relationships/font" Target="fonts/Raleway-boldItalic.fntdata"/><Relationship Id="rId16" Type="http://schemas.openxmlformats.org/officeDocument/2006/relationships/slide" Target="slides/slide11.xml"/><Relationship Id="rId38" Type="http://schemas.openxmlformats.org/officeDocument/2006/relationships/font" Target="fonts/Raleway-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d251bb473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d251bb473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e965474a9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e965474a9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b9a0b074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b9a0b074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d251bb47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d251bb47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cb9a0b074_1_1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cb9a0b074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723630543_1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723630543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91d0e599bd_0_1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91d0e599b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d814cf7d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d814cf7d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723630543_5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723630543_5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e965474a9_3_37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e965474a9_3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b9a0b074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b9a0b074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1d0e599b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1d0e599b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1d0e599b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1d0e599b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cb9a0b074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cb9a0b074_1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b9a0b074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cb9a0b074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1d0e599b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91d0e599b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e965474a9_3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e965474a9_3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1d0e599b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1d0e599b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1d0e599b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91d0e599b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1d0e599b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91d0e599b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cb9a0b074_1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cb9a0b074_1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1d0e599b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1d0e599b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1d0e599b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1d0e599b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1d0e599b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91d0e599b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e965474a9_3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e965474a9_3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91d0e599b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91d0e599b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cb9a0b074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cb9a0b074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1661500" y="9965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COURSE 1:</a:t>
            </a:r>
            <a:endParaRPr/>
          </a:p>
          <a:p>
            <a:pPr indent="0" lvl="0" marL="0" rtl="0" algn="l">
              <a:spcBef>
                <a:spcPts val="0"/>
              </a:spcBef>
              <a:spcAft>
                <a:spcPts val="0"/>
              </a:spcAft>
              <a:buNone/>
            </a:pPr>
            <a:r>
              <a:rPr lang="ru"/>
              <a:t>Introduction to Java,   HTML,CSS</a:t>
            </a:r>
            <a:endParaRPr/>
          </a:p>
        </p:txBody>
      </p:sp>
      <p:sp>
        <p:nvSpPr>
          <p:cNvPr id="73" name="Google Shape;73;p13"/>
          <p:cNvSpPr txBox="1"/>
          <p:nvPr>
            <p:ph idx="1" type="subTitle"/>
          </p:nvPr>
        </p:nvSpPr>
        <p:spPr>
          <a:xfrm>
            <a:off x="5627392" y="3694475"/>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ru" sz="2400"/>
              <a:t>Aisultanova Nazym</a:t>
            </a:r>
            <a:endParaRPr sz="2400"/>
          </a:p>
          <a:p>
            <a:pPr indent="0" lvl="0" marL="0" rtl="0" algn="l">
              <a:spcBef>
                <a:spcPts val="0"/>
              </a:spcBef>
              <a:spcAft>
                <a:spcPts val="0"/>
              </a:spcAft>
              <a:buNone/>
            </a:pPr>
            <a:r>
              <a:rPr lang="ru" sz="2400"/>
              <a:t>4240group_kzh</a:t>
            </a:r>
            <a:endParaRPr sz="2400"/>
          </a:p>
          <a:p>
            <a:pPr indent="0" lvl="0" marL="0" rtl="0" algn="l">
              <a:spcBef>
                <a:spcPts val="0"/>
              </a:spcBef>
              <a:spcAft>
                <a:spcPts val="0"/>
              </a:spcAft>
              <a:buNone/>
            </a:pPr>
            <a:r>
              <a:rPr lang="ru" sz="2400"/>
              <a:t>Amit Joshi</a:t>
            </a:r>
            <a:endParaRPr sz="2400"/>
          </a:p>
          <a:p>
            <a:pPr indent="0" lvl="0" marL="0" rtl="0" algn="l">
              <a:spcBef>
                <a:spcPts val="0"/>
              </a:spcBef>
              <a:spcAft>
                <a:spcPts val="0"/>
              </a:spcAft>
              <a:buNone/>
            </a:pPr>
            <a:r>
              <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4294967295" type="title"/>
          </p:nvPr>
        </p:nvSpPr>
        <p:spPr>
          <a:xfrm>
            <a:off x="535775" y="712150"/>
            <a:ext cx="5971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ru" sz="3600">
                <a:solidFill>
                  <a:schemeClr val="dk1"/>
                </a:solidFill>
              </a:rPr>
              <a:t>About the Course:</a:t>
            </a:r>
            <a:endParaRPr sz="2400"/>
          </a:p>
        </p:txBody>
      </p:sp>
      <p:sp>
        <p:nvSpPr>
          <p:cNvPr id="79" name="Google Shape;79;p14"/>
          <p:cNvSpPr txBox="1"/>
          <p:nvPr>
            <p:ph idx="4294967295" type="title"/>
          </p:nvPr>
        </p:nvSpPr>
        <p:spPr>
          <a:xfrm>
            <a:off x="535775" y="1592275"/>
            <a:ext cx="61827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b="0" lang="ru" sz="1800">
                <a:latin typeface="Lato"/>
                <a:ea typeface="Lato"/>
                <a:cs typeface="Lato"/>
                <a:sym typeface="Lato"/>
              </a:rPr>
              <a:t>Course platform: Coursera</a:t>
            </a:r>
            <a:endParaRPr b="0" sz="18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800">
                <a:latin typeface="Lato"/>
                <a:ea typeface="Lato"/>
                <a:cs typeface="Lato"/>
                <a:sym typeface="Lato"/>
              </a:rPr>
              <a:t>Course title: Introduction to Java, HTML, and CSS</a:t>
            </a:r>
            <a:endParaRPr b="0" sz="18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800">
                <a:latin typeface="Lato"/>
                <a:ea typeface="Lato"/>
                <a:cs typeface="Lato"/>
                <a:sym typeface="Lato"/>
              </a:rPr>
              <a:t>Course type: Online learning</a:t>
            </a:r>
            <a:endParaRPr b="0" sz="18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800">
                <a:latin typeface="Lato"/>
                <a:ea typeface="Lato"/>
                <a:cs typeface="Lato"/>
                <a:sym typeface="Lato"/>
              </a:rPr>
              <a:t>Level: Beginner</a:t>
            </a:r>
            <a:endParaRPr b="0" sz="1800">
              <a:latin typeface="Lato"/>
              <a:ea typeface="Lato"/>
              <a:cs typeface="Lato"/>
              <a:sym typeface="Lato"/>
            </a:endParaRPr>
          </a:p>
          <a:p>
            <a:pPr indent="0" lvl="0" marL="0" rtl="0" algn="l">
              <a:lnSpc>
                <a:spcPct val="115000"/>
              </a:lnSpc>
              <a:spcBef>
                <a:spcPts val="1600"/>
              </a:spcBef>
              <a:spcAft>
                <a:spcPts val="1600"/>
              </a:spcAft>
              <a:buNone/>
            </a:pPr>
            <a:r>
              <a:t/>
            </a:r>
            <a:endParaRPr b="0" sz="1800">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3" name="Shape 83"/>
        <p:cNvGrpSpPr/>
        <p:nvPr/>
      </p:nvGrpSpPr>
      <p:grpSpPr>
        <a:xfrm>
          <a:off x="0" y="0"/>
          <a:ext cx="0" cy="0"/>
          <a:chOff x="0" y="0"/>
          <a:chExt cx="0" cy="0"/>
        </a:xfrm>
      </p:grpSpPr>
      <p:pic>
        <p:nvPicPr>
          <p:cNvPr id="84" name="Google Shape;84;p15"/>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85" name="Google Shape;85;p15"/>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86" name="Google Shape;86;p15"/>
          <p:cNvSpPr txBox="1"/>
          <p:nvPr/>
        </p:nvSpPr>
        <p:spPr>
          <a:xfrm>
            <a:off x="2855550" y="1165872"/>
            <a:ext cx="3432900" cy="7626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0"/>
              </a:spcBef>
              <a:spcAft>
                <a:spcPts val="0"/>
              </a:spcAft>
              <a:buClr>
                <a:schemeClr val="dk2"/>
              </a:buClr>
              <a:buSzPts val="1100"/>
              <a:buFont typeface="Arial"/>
              <a:buNone/>
            </a:pPr>
            <a:r>
              <a:rPr b="1" lang="ru" sz="1600">
                <a:solidFill>
                  <a:schemeClr val="dk2"/>
                </a:solidFill>
                <a:latin typeface="Raleway"/>
                <a:ea typeface="Raleway"/>
                <a:cs typeface="Raleway"/>
                <a:sym typeface="Raleway"/>
              </a:rPr>
              <a:t>Course Objectives</a:t>
            </a:r>
            <a:endParaRPr b="1" sz="1600">
              <a:solidFill>
                <a:schemeClr val="dk2"/>
              </a:solidFill>
              <a:latin typeface="Raleway"/>
              <a:ea typeface="Raleway"/>
              <a:cs typeface="Raleway"/>
              <a:sym typeface="Raleway"/>
            </a:endParaRPr>
          </a:p>
          <a:p>
            <a:pPr indent="0" lvl="0" marL="0" rtl="0" algn="l">
              <a:spcBef>
                <a:spcPts val="1000"/>
              </a:spcBef>
              <a:spcAft>
                <a:spcPts val="0"/>
              </a:spcAft>
              <a:buNone/>
            </a:pPr>
            <a:r>
              <a:t/>
            </a:r>
            <a:endParaRPr b="1" sz="3000">
              <a:solidFill>
                <a:schemeClr val="lt2"/>
              </a:solidFill>
              <a:latin typeface="Raleway"/>
              <a:ea typeface="Raleway"/>
              <a:cs typeface="Raleway"/>
              <a:sym typeface="Raleway"/>
            </a:endParaRPr>
          </a:p>
        </p:txBody>
      </p:sp>
      <p:sp>
        <p:nvSpPr>
          <p:cNvPr id="87" name="Google Shape;87;p15"/>
          <p:cNvSpPr txBox="1"/>
          <p:nvPr>
            <p:ph idx="4294967295" type="body"/>
          </p:nvPr>
        </p:nvSpPr>
        <p:spPr>
          <a:xfrm>
            <a:off x="2855550" y="1571880"/>
            <a:ext cx="3432900" cy="3327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ru" sz="1200">
                <a:latin typeface="Raleway"/>
                <a:ea typeface="Raleway"/>
                <a:cs typeface="Raleway"/>
                <a:sym typeface="Raleway"/>
              </a:rPr>
              <a:t>Learn basics of programming</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Understand web technologies</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Gain practical coding skills</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Build simple applications and web pages</a:t>
            </a:r>
            <a:endParaRPr b="1" sz="1200">
              <a:latin typeface="Raleway"/>
              <a:ea typeface="Raleway"/>
              <a:cs typeface="Raleway"/>
              <a:sym typeface="Raleway"/>
            </a:endParaRPr>
          </a:p>
          <a:p>
            <a:pPr indent="0" lvl="0" marL="457200" rtl="0" algn="l">
              <a:spcBef>
                <a:spcPts val="1000"/>
              </a:spcBef>
              <a:spcAft>
                <a:spcPts val="1000"/>
              </a:spcAft>
              <a:buNone/>
            </a:pPr>
            <a:r>
              <a:t/>
            </a:r>
            <a:endParaRPr b="1" sz="1200">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327949" y="654000"/>
            <a:ext cx="86223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ru" sz="2400"/>
              <a:t>I Learned Overall</a:t>
            </a:r>
            <a:endParaRPr sz="2400"/>
          </a:p>
          <a:p>
            <a:pPr indent="0" lvl="0" marL="0" rtl="0" algn="l">
              <a:spcBef>
                <a:spcPts val="1000"/>
              </a:spcBef>
              <a:spcAft>
                <a:spcPts val="0"/>
              </a:spcAft>
              <a:buClr>
                <a:schemeClr val="dk2"/>
              </a:buClr>
              <a:buSzPts val="1100"/>
              <a:buFont typeface="Arial"/>
              <a:buNone/>
            </a:pPr>
            <a:r>
              <a:rPr b="0" lang="ru" sz="2400"/>
              <a:t>1.Programming fundamentals</a:t>
            </a:r>
            <a:endParaRPr b="0" sz="2400"/>
          </a:p>
          <a:p>
            <a:pPr indent="0" lvl="0" marL="0" rtl="0" algn="l">
              <a:spcBef>
                <a:spcPts val="1000"/>
              </a:spcBef>
              <a:spcAft>
                <a:spcPts val="0"/>
              </a:spcAft>
              <a:buClr>
                <a:schemeClr val="dk2"/>
              </a:buClr>
              <a:buSzPts val="1100"/>
              <a:buFont typeface="Arial"/>
              <a:buNone/>
            </a:pPr>
            <a:r>
              <a:rPr b="0" lang="ru" sz="2400"/>
              <a:t>2.Java basics</a:t>
            </a:r>
            <a:endParaRPr b="0" sz="2400"/>
          </a:p>
          <a:p>
            <a:pPr indent="0" lvl="0" marL="0" rtl="0" algn="l">
              <a:spcBef>
                <a:spcPts val="1000"/>
              </a:spcBef>
              <a:spcAft>
                <a:spcPts val="0"/>
              </a:spcAft>
              <a:buClr>
                <a:schemeClr val="dk2"/>
              </a:buClr>
              <a:buSzPts val="1100"/>
              <a:buFont typeface="Arial"/>
              <a:buNone/>
            </a:pPr>
            <a:r>
              <a:rPr b="0" lang="ru" sz="2400"/>
              <a:t>3.HTML structure</a:t>
            </a:r>
            <a:endParaRPr b="0" sz="2400"/>
          </a:p>
          <a:p>
            <a:pPr indent="0" lvl="0" marL="0" rtl="0" algn="l">
              <a:spcBef>
                <a:spcPts val="1000"/>
              </a:spcBef>
              <a:spcAft>
                <a:spcPts val="0"/>
              </a:spcAft>
              <a:buClr>
                <a:schemeClr val="dk2"/>
              </a:buClr>
              <a:buSzPts val="1100"/>
              <a:buFont typeface="Arial"/>
              <a:buNone/>
            </a:pPr>
            <a:r>
              <a:rPr b="0" lang="ru" sz="2400"/>
              <a:t>4.CSS styling</a:t>
            </a:r>
            <a:endParaRPr b="0" sz="2400"/>
          </a:p>
          <a:p>
            <a:pPr indent="0" lvl="0" marL="0" rtl="0" algn="l">
              <a:spcBef>
                <a:spcPts val="1000"/>
              </a:spcBef>
              <a:spcAft>
                <a:spcPts val="0"/>
              </a:spcAft>
              <a:buClr>
                <a:schemeClr val="dk2"/>
              </a:buClr>
              <a:buSzPts val="1100"/>
              <a:buFont typeface="Arial"/>
              <a:buNone/>
            </a:pPr>
            <a:r>
              <a:rPr b="0" lang="ru" sz="2400"/>
              <a:t>5.Problem-solving skills</a:t>
            </a:r>
            <a:endParaRPr b="0" sz="2400"/>
          </a:p>
          <a:p>
            <a:pPr indent="0" lvl="0" marL="0" rtl="0" algn="l">
              <a:spcBef>
                <a:spcPts val="1000"/>
              </a:spcBef>
              <a:spcAft>
                <a:spcPts val="1000"/>
              </a:spcAft>
              <a:buNone/>
            </a:pPr>
            <a:r>
              <a:t/>
            </a:r>
            <a:endParaRPr b="0" sz="2400"/>
          </a:p>
        </p:txBody>
      </p:sp>
      <p:grpSp>
        <p:nvGrpSpPr>
          <p:cNvPr id="93" name="Google Shape;93;p16"/>
          <p:cNvGrpSpPr/>
          <p:nvPr/>
        </p:nvGrpSpPr>
        <p:grpSpPr>
          <a:xfrm>
            <a:off x="6609438" y="2067810"/>
            <a:ext cx="2212050" cy="2537076"/>
            <a:chOff x="6803275" y="395363"/>
            <a:chExt cx="2212050" cy="2537076"/>
          </a:xfrm>
        </p:grpSpPr>
        <p:pic>
          <p:nvPicPr>
            <p:cNvPr id="94" name="Google Shape;94;p16"/>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95" name="Google Shape;95;p16"/>
            <p:cNvPicPr preferRelativeResize="0"/>
            <p:nvPr/>
          </p:nvPicPr>
          <p:blipFill rotWithShape="1">
            <a:blip r:embed="rId4">
              <a:alphaModFix/>
            </a:blip>
            <a:srcRect b="10011" l="9244" r="2118" t="5926"/>
            <a:stretch/>
          </p:blipFill>
          <p:spPr>
            <a:xfrm rot="154826">
              <a:off x="7370663" y="419419"/>
              <a:ext cx="1077273" cy="382687"/>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699125" y="1912650"/>
            <a:ext cx="7240500" cy="131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ru" sz="2400">
                <a:solidFill>
                  <a:schemeClr val="dk2"/>
                </a:solidFill>
              </a:rPr>
              <a:t>1.Introduction to Programming</a:t>
            </a:r>
            <a:endParaRPr sz="2400">
              <a:solidFill>
                <a:schemeClr val="dk2"/>
              </a:solidFill>
            </a:endParaRPr>
          </a:p>
          <a:p>
            <a:pPr indent="0" lvl="0" marL="0" rtl="0" algn="l">
              <a:spcBef>
                <a:spcPts val="0"/>
              </a:spcBef>
              <a:spcAft>
                <a:spcPts val="0"/>
              </a:spcAft>
              <a:buClr>
                <a:schemeClr val="dk2"/>
              </a:buClr>
              <a:buSzPts val="1100"/>
              <a:buFont typeface="Arial"/>
              <a:buNone/>
            </a:pPr>
            <a:r>
              <a:rPr b="0" lang="ru" sz="2400">
                <a:solidFill>
                  <a:schemeClr val="dk2"/>
                </a:solidFill>
              </a:rPr>
              <a:t>What is programming</a:t>
            </a:r>
            <a:endParaRPr b="0" sz="2400">
              <a:solidFill>
                <a:schemeClr val="dk2"/>
              </a:solidFill>
            </a:endParaRPr>
          </a:p>
          <a:p>
            <a:pPr indent="0" lvl="0" marL="0" rtl="0" algn="l">
              <a:spcBef>
                <a:spcPts val="0"/>
              </a:spcBef>
              <a:spcAft>
                <a:spcPts val="0"/>
              </a:spcAft>
              <a:buClr>
                <a:schemeClr val="dk2"/>
              </a:buClr>
              <a:buSzPts val="1100"/>
              <a:buFont typeface="Arial"/>
              <a:buNone/>
            </a:pPr>
            <a:r>
              <a:rPr b="0" lang="ru" sz="2400">
                <a:solidFill>
                  <a:schemeClr val="dk2"/>
                </a:solidFill>
              </a:rPr>
              <a:t>Why programming is important</a:t>
            </a:r>
            <a:endParaRPr b="0" sz="2400">
              <a:solidFill>
                <a:schemeClr val="dk2"/>
              </a:solidFill>
            </a:endParaRPr>
          </a:p>
          <a:p>
            <a:pPr indent="0" lvl="0" marL="0" rtl="0" algn="l">
              <a:spcBef>
                <a:spcPts val="0"/>
              </a:spcBef>
              <a:spcAft>
                <a:spcPts val="0"/>
              </a:spcAft>
              <a:buClr>
                <a:schemeClr val="dk2"/>
              </a:buClr>
              <a:buSzPts val="1100"/>
              <a:buFont typeface="Arial"/>
              <a:buNone/>
            </a:pPr>
            <a:r>
              <a:rPr b="0" lang="ru" sz="2400">
                <a:solidFill>
                  <a:schemeClr val="dk2"/>
                </a:solidFill>
              </a:rPr>
              <a:t>Applications of programming</a:t>
            </a:r>
            <a:endParaRPr b="0" sz="2400">
              <a:solidFill>
                <a:schemeClr val="dk2"/>
              </a:solidFill>
            </a:endParaRPr>
          </a:p>
          <a:p>
            <a:pPr indent="0" lvl="0" marL="0" rtl="0" algn="l">
              <a:spcBef>
                <a:spcPts val="0"/>
              </a:spcBef>
              <a:spcAft>
                <a:spcPts val="0"/>
              </a:spcAft>
              <a:buClr>
                <a:schemeClr val="dk2"/>
              </a:buClr>
              <a:buSzPts val="1100"/>
              <a:buFont typeface="Arial"/>
              <a:buNone/>
            </a:pPr>
            <a:r>
              <a:rPr b="0" lang="ru" sz="2400">
                <a:solidFill>
                  <a:schemeClr val="dk2"/>
                </a:solidFill>
              </a:rPr>
              <a:t>Real-life examples</a:t>
            </a:r>
            <a:endParaRPr b="0" sz="2400">
              <a:solidFill>
                <a:schemeClr val="dk2"/>
              </a:solidFill>
            </a:endParaRPr>
          </a:p>
          <a:p>
            <a:pPr indent="0" lvl="0" marL="0" rtl="0" algn="l">
              <a:spcBef>
                <a:spcPts val="0"/>
              </a:spcBef>
              <a:spcAft>
                <a:spcPts val="0"/>
              </a:spcAft>
              <a:buClr>
                <a:schemeClr val="dk2"/>
              </a:buClr>
              <a:buSzPts val="1100"/>
              <a:buFont typeface="Arial"/>
              <a:buNone/>
            </a:pPr>
            <a:r>
              <a:rPr lang="ru" sz="2400">
                <a:solidFill>
                  <a:schemeClr val="dk2"/>
                </a:solidFill>
              </a:rPr>
              <a:t>2.Introduction to Java</a:t>
            </a:r>
            <a:endParaRPr sz="2400">
              <a:solidFill>
                <a:schemeClr val="dk2"/>
              </a:solidFill>
            </a:endParaRPr>
          </a:p>
          <a:p>
            <a:pPr indent="0" lvl="0" marL="0" rtl="0" algn="l">
              <a:spcBef>
                <a:spcPts val="0"/>
              </a:spcBef>
              <a:spcAft>
                <a:spcPts val="0"/>
              </a:spcAft>
              <a:buClr>
                <a:schemeClr val="dk2"/>
              </a:buClr>
              <a:buSzPts val="1100"/>
              <a:buFont typeface="Arial"/>
              <a:buNone/>
            </a:pPr>
            <a:r>
              <a:rPr b="0" lang="ru" sz="2400">
                <a:solidFill>
                  <a:schemeClr val="dk2"/>
                </a:solidFill>
              </a:rPr>
              <a:t>Java is a programming language</a:t>
            </a:r>
            <a:endParaRPr b="0" sz="2400">
              <a:solidFill>
                <a:schemeClr val="dk2"/>
              </a:solidFill>
            </a:endParaRPr>
          </a:p>
          <a:p>
            <a:pPr indent="0" lvl="0" marL="0" rtl="0" algn="l">
              <a:spcBef>
                <a:spcPts val="0"/>
              </a:spcBef>
              <a:spcAft>
                <a:spcPts val="0"/>
              </a:spcAft>
              <a:buClr>
                <a:schemeClr val="dk2"/>
              </a:buClr>
              <a:buSzPts val="1100"/>
              <a:buFont typeface="Arial"/>
              <a:buNone/>
            </a:pPr>
            <a:r>
              <a:rPr b="0" lang="ru" sz="2400">
                <a:solidFill>
                  <a:schemeClr val="dk2"/>
                </a:solidFill>
              </a:rPr>
              <a:t>Object-oriented language</a:t>
            </a:r>
            <a:endParaRPr b="0" sz="2400">
              <a:solidFill>
                <a:schemeClr val="dk2"/>
              </a:solidFill>
            </a:endParaRPr>
          </a:p>
          <a:p>
            <a:pPr indent="0" lvl="0" marL="0" rtl="0" algn="l">
              <a:spcBef>
                <a:spcPts val="0"/>
              </a:spcBef>
              <a:spcAft>
                <a:spcPts val="0"/>
              </a:spcAft>
              <a:buClr>
                <a:schemeClr val="dk2"/>
              </a:buClr>
              <a:buSzPts val="1100"/>
              <a:buFont typeface="Arial"/>
              <a:buNone/>
            </a:pPr>
            <a:r>
              <a:rPr b="0" lang="ru" sz="2400">
                <a:solidFill>
                  <a:schemeClr val="dk2"/>
                </a:solidFill>
              </a:rPr>
              <a:t>Platform independent</a:t>
            </a:r>
            <a:endParaRPr b="0" sz="2400">
              <a:solidFill>
                <a:schemeClr val="dk2"/>
              </a:solidFill>
            </a:endParaRPr>
          </a:p>
          <a:p>
            <a:pPr indent="0" lvl="0" marL="0" rtl="0" algn="l">
              <a:spcBef>
                <a:spcPts val="0"/>
              </a:spcBef>
              <a:spcAft>
                <a:spcPts val="0"/>
              </a:spcAft>
              <a:buNone/>
            </a:pPr>
            <a:r>
              <a:t/>
            </a:r>
            <a:endParaRPr b="0" sz="24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pic>
        <p:nvPicPr>
          <p:cNvPr id="105" name="Google Shape;105;p18"/>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106" name="Google Shape;106;p18"/>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107" name="Google Shape;107;p18"/>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ru" sz="3000">
                <a:solidFill>
                  <a:schemeClr val="lt2"/>
                </a:solidFill>
                <a:latin typeface="Raleway"/>
                <a:ea typeface="Raleway"/>
                <a:cs typeface="Raleway"/>
                <a:sym typeface="Raleway"/>
              </a:rPr>
              <a:t>Moduel 1</a:t>
            </a:r>
            <a:endParaRPr b="1" sz="3000">
              <a:solidFill>
                <a:schemeClr val="lt2"/>
              </a:solidFill>
              <a:latin typeface="Raleway"/>
              <a:ea typeface="Raleway"/>
              <a:cs typeface="Raleway"/>
              <a:sym typeface="Raleway"/>
            </a:endParaRPr>
          </a:p>
        </p:txBody>
      </p:sp>
      <p:sp>
        <p:nvSpPr>
          <p:cNvPr id="108" name="Google Shape;108;p18"/>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aleway"/>
              <a:buChar char="➔"/>
            </a:pPr>
            <a:r>
              <a:rPr lang="ru" sz="1200">
                <a:latin typeface="Raleway"/>
                <a:ea typeface="Raleway"/>
                <a:cs typeface="Raleway"/>
                <a:sym typeface="Raleway"/>
              </a:rPr>
              <a:t> Introduction to Programming Concepts</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This module introduced the basic concepts of programming.</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I learned what programming is and why it is important in modern technology.</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The module covered problem-solving skills, algorithms, and logical thinking.</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It helped me understand how programs work and how instructions are executed step by step.</a:t>
            </a:r>
            <a:endParaRPr sz="1200">
              <a:latin typeface="Raleway"/>
              <a:ea typeface="Raleway"/>
              <a:cs typeface="Raleway"/>
              <a:sym typeface="Raleway"/>
            </a:endParaRPr>
          </a:p>
          <a:p>
            <a:pPr indent="0" lvl="0" marL="457200" rtl="0" algn="l">
              <a:spcBef>
                <a:spcPts val="1000"/>
              </a:spcBef>
              <a:spcAft>
                <a:spcPts val="1000"/>
              </a:spcAft>
              <a:buNone/>
            </a:pPr>
            <a:r>
              <a:t/>
            </a:r>
            <a:endParaRPr sz="1200">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731650" y="988775"/>
            <a:ext cx="86316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accent5"/>
              </a:solidFill>
            </a:endParaRPr>
          </a:p>
        </p:txBody>
      </p:sp>
      <p:pic>
        <p:nvPicPr>
          <p:cNvPr id="114" name="Google Shape;114;p19" title="14ghj.png"/>
          <p:cNvPicPr preferRelativeResize="0"/>
          <p:nvPr/>
        </p:nvPicPr>
        <p:blipFill>
          <a:blip r:embed="rId3">
            <a:alphaModFix/>
          </a:blip>
          <a:stretch>
            <a:fillRect/>
          </a:stretch>
        </p:blipFill>
        <p:spPr>
          <a:xfrm>
            <a:off x="656000" y="515850"/>
            <a:ext cx="7443252" cy="4111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20"/>
          <p:cNvSpPr txBox="1"/>
          <p:nvPr>
            <p:ph idx="1" type="subTitle"/>
          </p:nvPr>
        </p:nvSpPr>
        <p:spPr>
          <a:xfrm>
            <a:off x="265500" y="653700"/>
            <a:ext cx="4045200" cy="3836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b="1" lang="ru" sz="3000">
                <a:solidFill>
                  <a:schemeClr val="dk1"/>
                </a:solidFill>
              </a:rPr>
              <a:t>Introduction to Java</a:t>
            </a:r>
            <a:endParaRPr b="1" sz="3000">
              <a:solidFill>
                <a:schemeClr val="dk1"/>
              </a:solidFill>
            </a:endParaRPr>
          </a:p>
          <a:p>
            <a:pPr indent="0" lvl="0" marL="0" rtl="0" algn="l">
              <a:lnSpc>
                <a:spcPct val="115000"/>
              </a:lnSpc>
              <a:spcBef>
                <a:spcPts val="1600"/>
              </a:spcBef>
              <a:spcAft>
                <a:spcPts val="0"/>
              </a:spcAft>
              <a:buClr>
                <a:schemeClr val="dk2"/>
              </a:buClr>
              <a:buSzPts val="1100"/>
              <a:buFont typeface="Arial"/>
              <a:buNone/>
            </a:pPr>
            <a:r>
              <a:rPr lang="ru" sz="1800"/>
              <a:t>Used in mobile apps</a:t>
            </a:r>
            <a:endParaRPr sz="1800"/>
          </a:p>
          <a:p>
            <a:pPr indent="0" lvl="0" marL="0" rtl="0" algn="l">
              <a:lnSpc>
                <a:spcPct val="115000"/>
              </a:lnSpc>
              <a:spcBef>
                <a:spcPts val="1600"/>
              </a:spcBef>
              <a:spcAft>
                <a:spcPts val="0"/>
              </a:spcAft>
              <a:buClr>
                <a:schemeClr val="dk2"/>
              </a:buClr>
              <a:buSzPts val="1100"/>
              <a:buFont typeface="Arial"/>
              <a:buNone/>
            </a:pPr>
            <a:r>
              <a:rPr lang="ru" sz="1800"/>
              <a:t>Used in web applications</a:t>
            </a:r>
            <a:endParaRPr sz="1800"/>
          </a:p>
          <a:p>
            <a:pPr indent="0" lvl="0" marL="0" rtl="0" algn="l">
              <a:lnSpc>
                <a:spcPct val="115000"/>
              </a:lnSpc>
              <a:spcBef>
                <a:spcPts val="1600"/>
              </a:spcBef>
              <a:spcAft>
                <a:spcPts val="0"/>
              </a:spcAft>
              <a:buClr>
                <a:schemeClr val="dk2"/>
              </a:buClr>
              <a:buSzPts val="1100"/>
              <a:buFont typeface="Arial"/>
              <a:buNone/>
            </a:pPr>
            <a:r>
              <a:rPr lang="ru" sz="1800"/>
              <a:t>Used in enterprise systems</a:t>
            </a:r>
            <a:endParaRPr sz="1800"/>
          </a:p>
          <a:p>
            <a:pPr indent="0" lvl="0" marL="0" rtl="0" algn="l">
              <a:lnSpc>
                <a:spcPct val="115000"/>
              </a:lnSpc>
              <a:spcBef>
                <a:spcPts val="1600"/>
              </a:spcBef>
              <a:spcAft>
                <a:spcPts val="1600"/>
              </a:spcAft>
              <a:buNone/>
            </a:pPr>
            <a:r>
              <a:t/>
            </a:r>
            <a:endParaRPr sz="1800"/>
          </a:p>
        </p:txBody>
      </p:sp>
      <p:grpSp>
        <p:nvGrpSpPr>
          <p:cNvPr id="120" name="Google Shape;120;p20"/>
          <p:cNvGrpSpPr/>
          <p:nvPr/>
        </p:nvGrpSpPr>
        <p:grpSpPr>
          <a:xfrm>
            <a:off x="5981463" y="1230485"/>
            <a:ext cx="2212050" cy="2537076"/>
            <a:chOff x="6803275" y="395363"/>
            <a:chExt cx="2212050" cy="2537076"/>
          </a:xfrm>
        </p:grpSpPr>
        <p:pic>
          <p:nvPicPr>
            <p:cNvPr id="121" name="Google Shape;121;p20"/>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122" name="Google Shape;122;p20"/>
            <p:cNvPicPr preferRelativeResize="0"/>
            <p:nvPr/>
          </p:nvPicPr>
          <p:blipFill rotWithShape="1">
            <a:blip r:embed="rId4">
              <a:alphaModFix/>
            </a:blip>
            <a:srcRect b="10011" l="9244" r="2118" t="5926"/>
            <a:stretch/>
          </p:blipFill>
          <p:spPr>
            <a:xfrm rot="154826">
              <a:off x="7370663" y="419419"/>
              <a:ext cx="1077273" cy="382687"/>
            </a:xfrm>
            <a:prstGeom prst="rect">
              <a:avLst/>
            </a:prstGeom>
            <a:noFill/>
            <a:ln>
              <a:noFill/>
            </a:ln>
          </p:spPr>
        </p:pic>
        <p:sp>
          <p:nvSpPr>
            <p:cNvPr id="123" name="Google Shape;123;p20"/>
            <p:cNvSpPr txBox="1"/>
            <p:nvPr/>
          </p:nvSpPr>
          <p:spPr>
            <a:xfrm>
              <a:off x="6989650" y="677943"/>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800"/>
                </a:spcAft>
                <a:buNone/>
              </a:pPr>
              <a:r>
                <a:t/>
              </a:r>
              <a:endParaRPr b="1" sz="1200">
                <a:solidFill>
                  <a:schemeClr val="dk1"/>
                </a:solidFill>
                <a:latin typeface="Raleway"/>
                <a:ea typeface="Raleway"/>
                <a:cs typeface="Raleway"/>
                <a:sym typeface="Raleway"/>
              </a:endParaRPr>
            </a:p>
          </p:txBody>
        </p:sp>
      </p:grpSp>
      <p:sp>
        <p:nvSpPr>
          <p:cNvPr id="124" name="Google Shape;124;p20"/>
          <p:cNvSpPr txBox="1"/>
          <p:nvPr/>
        </p:nvSpPr>
        <p:spPr>
          <a:xfrm>
            <a:off x="283100" y="46549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i="1" sz="1200">
              <a:solidFill>
                <a:schemeClr val="lt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1"/>
          <p:cNvSpPr txBox="1"/>
          <p:nvPr>
            <p:ph idx="1" type="body"/>
          </p:nvPr>
        </p:nvSpPr>
        <p:spPr>
          <a:xfrm>
            <a:off x="4832750" y="980400"/>
            <a:ext cx="4033800" cy="318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ru" sz="3000">
                <a:solidFill>
                  <a:schemeClr val="dk1"/>
                </a:solidFill>
              </a:rPr>
              <a:t> </a:t>
            </a:r>
            <a:r>
              <a:rPr b="1" lang="ru" sz="1800"/>
              <a:t>Why Java Is Important</a:t>
            </a:r>
            <a:endParaRPr b="1" sz="3000">
              <a:solidFill>
                <a:schemeClr val="dk1"/>
              </a:solidFill>
            </a:endParaRPr>
          </a:p>
          <a:p>
            <a:pPr indent="0" lvl="0" marL="0" rtl="0" algn="l">
              <a:spcBef>
                <a:spcPts val="1600"/>
              </a:spcBef>
              <a:spcAft>
                <a:spcPts val="0"/>
              </a:spcAft>
              <a:buClr>
                <a:schemeClr val="dk2"/>
              </a:buClr>
              <a:buSzPts val="1100"/>
              <a:buFont typeface="Arial"/>
              <a:buNone/>
            </a:pPr>
            <a:r>
              <a:rPr lang="ru" sz="1800">
                <a:solidFill>
                  <a:srgbClr val="000000"/>
                </a:solidFill>
              </a:rPr>
              <a:t>Used in mobile apps</a:t>
            </a:r>
            <a:endParaRPr sz="1800">
              <a:solidFill>
                <a:srgbClr val="000000"/>
              </a:solidFill>
            </a:endParaRPr>
          </a:p>
          <a:p>
            <a:pPr indent="0" lvl="0" marL="0" rtl="0" algn="l">
              <a:spcBef>
                <a:spcPts val="1600"/>
              </a:spcBef>
              <a:spcAft>
                <a:spcPts val="0"/>
              </a:spcAft>
              <a:buClr>
                <a:schemeClr val="dk2"/>
              </a:buClr>
              <a:buSzPts val="1100"/>
              <a:buFont typeface="Arial"/>
              <a:buNone/>
            </a:pPr>
            <a:r>
              <a:rPr lang="ru" sz="1800">
                <a:solidFill>
                  <a:srgbClr val="000000"/>
                </a:solidFill>
              </a:rPr>
              <a:t>Used in web applications</a:t>
            </a:r>
            <a:endParaRPr sz="1800">
              <a:solidFill>
                <a:srgbClr val="000000"/>
              </a:solidFill>
            </a:endParaRPr>
          </a:p>
          <a:p>
            <a:pPr indent="0" lvl="0" marL="0" rtl="0" algn="l">
              <a:spcBef>
                <a:spcPts val="1600"/>
              </a:spcBef>
              <a:spcAft>
                <a:spcPts val="0"/>
              </a:spcAft>
              <a:buClr>
                <a:schemeClr val="dk2"/>
              </a:buClr>
              <a:buSzPts val="1100"/>
              <a:buFont typeface="Arial"/>
              <a:buNone/>
            </a:pPr>
            <a:r>
              <a:rPr lang="ru" sz="1800">
                <a:solidFill>
                  <a:srgbClr val="000000"/>
                </a:solidFill>
              </a:rPr>
              <a:t>Used in enterprise systems</a:t>
            </a:r>
            <a:endParaRPr sz="1800">
              <a:solidFill>
                <a:srgbClr val="000000"/>
              </a:solidFill>
            </a:endParaRPr>
          </a:p>
          <a:p>
            <a:pPr indent="0" lvl="0" marL="0" rtl="0" algn="l">
              <a:spcBef>
                <a:spcPts val="1600"/>
              </a:spcBef>
              <a:spcAft>
                <a:spcPts val="0"/>
              </a:spcAft>
              <a:buClr>
                <a:schemeClr val="dk2"/>
              </a:buClr>
              <a:buSzPts val="1100"/>
              <a:buFont typeface="Arial"/>
              <a:buNone/>
            </a:pPr>
            <a:r>
              <a:rPr lang="ru" sz="1800">
                <a:solidFill>
                  <a:srgbClr val="000000"/>
                </a:solidFill>
              </a:rPr>
              <a:t>Strong community suppor</a:t>
            </a:r>
            <a:endParaRPr sz="1800">
              <a:solidFill>
                <a:srgbClr val="000000"/>
              </a:solidFill>
            </a:endParaRPr>
          </a:p>
          <a:p>
            <a:pPr indent="0" lvl="0" marL="0" rtl="0" algn="l">
              <a:spcBef>
                <a:spcPts val="1600"/>
              </a:spcBef>
              <a:spcAft>
                <a:spcPts val="1600"/>
              </a:spcAft>
              <a:buClr>
                <a:schemeClr val="dk2"/>
              </a:buClr>
              <a:buSzPts val="1100"/>
              <a:buFont typeface="Arial"/>
              <a:buNone/>
            </a:pPr>
            <a:r>
              <a:t/>
            </a:r>
            <a:endParaRPr sz="1800">
              <a:solidFill>
                <a:srgbClr val="000000"/>
              </a:solidFill>
            </a:endParaRPr>
          </a:p>
        </p:txBody>
      </p:sp>
      <p:grpSp>
        <p:nvGrpSpPr>
          <p:cNvPr id="130" name="Google Shape;130;p21"/>
          <p:cNvGrpSpPr/>
          <p:nvPr/>
        </p:nvGrpSpPr>
        <p:grpSpPr>
          <a:xfrm>
            <a:off x="591013" y="980410"/>
            <a:ext cx="2212050" cy="2537076"/>
            <a:chOff x="6803275" y="395363"/>
            <a:chExt cx="2212050" cy="2537076"/>
          </a:xfrm>
        </p:grpSpPr>
        <p:pic>
          <p:nvPicPr>
            <p:cNvPr id="131" name="Google Shape;131;p21"/>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132" name="Google Shape;132;p21"/>
            <p:cNvPicPr preferRelativeResize="0"/>
            <p:nvPr/>
          </p:nvPicPr>
          <p:blipFill rotWithShape="1">
            <a:blip r:embed="rId4">
              <a:alphaModFix/>
            </a:blip>
            <a:srcRect b="10011" l="9244" r="2118" t="5926"/>
            <a:stretch/>
          </p:blipFill>
          <p:spPr>
            <a:xfrm rot="154826">
              <a:off x="7370663" y="419419"/>
              <a:ext cx="1077273" cy="382687"/>
            </a:xfrm>
            <a:prstGeom prst="rect">
              <a:avLst/>
            </a:prstGeom>
            <a:noFill/>
            <a:ln>
              <a:noFill/>
            </a:ln>
          </p:spPr>
        </p:pic>
        <p:sp>
          <p:nvSpPr>
            <p:cNvPr id="133" name="Google Shape;133;p21"/>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b="1">
                <a:solidFill>
                  <a:schemeClr val="dk1"/>
                </a:solidFill>
                <a:latin typeface="Raleway"/>
                <a:ea typeface="Raleway"/>
                <a:cs typeface="Raleway"/>
                <a:sym typeface="Raleway"/>
              </a:endParaRPr>
            </a:p>
            <a:p>
              <a:pPr indent="0" lvl="0" marL="0" rtl="0" algn="l">
                <a:spcBef>
                  <a:spcPts val="800"/>
                </a:spcBef>
                <a:spcAft>
                  <a:spcPts val="800"/>
                </a:spcAft>
                <a:buNone/>
              </a:pPr>
              <a:r>
                <a:t/>
              </a:r>
              <a:endParaRPr b="1" sz="1200">
                <a:solidFill>
                  <a:schemeClr val="dk1"/>
                </a:solidFill>
                <a:latin typeface="Raleway"/>
                <a:ea typeface="Raleway"/>
                <a:cs typeface="Raleway"/>
                <a:sym typeface="Raleway"/>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22"/>
          <p:cNvSpPr txBox="1"/>
          <p:nvPr>
            <p:ph idx="1" type="body"/>
          </p:nvPr>
        </p:nvSpPr>
        <p:spPr>
          <a:xfrm>
            <a:off x="3513725" y="2616600"/>
            <a:ext cx="5352900" cy="154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ru" sz="1600">
                <a:solidFill>
                  <a:schemeClr val="dk1"/>
                </a:solidFill>
              </a:rPr>
              <a:t> CSS Box Model</a:t>
            </a:r>
            <a:endParaRPr b="1" sz="1600">
              <a:solidFill>
                <a:schemeClr val="dk1"/>
              </a:solidFill>
            </a:endParaRPr>
          </a:p>
          <a:p>
            <a:pPr indent="0" lvl="0" marL="0" rtl="0" algn="l">
              <a:spcBef>
                <a:spcPts val="1600"/>
              </a:spcBef>
              <a:spcAft>
                <a:spcPts val="0"/>
              </a:spcAft>
              <a:buClr>
                <a:schemeClr val="dk2"/>
              </a:buClr>
              <a:buSzPts val="1100"/>
              <a:buFont typeface="Arial"/>
              <a:buNone/>
            </a:pPr>
            <a:r>
              <a:rPr b="1" lang="ru" sz="1600">
                <a:solidFill>
                  <a:schemeClr val="dk1"/>
                </a:solidFill>
              </a:rPr>
              <a:t>The box model consists of margin, border, padding, and content.</a:t>
            </a:r>
            <a:endParaRPr b="1" sz="1600">
              <a:solidFill>
                <a:schemeClr val="dk1"/>
              </a:solidFill>
            </a:endParaRPr>
          </a:p>
          <a:p>
            <a:pPr indent="0" lvl="0" marL="0" rtl="0" algn="l">
              <a:spcBef>
                <a:spcPts val="1600"/>
              </a:spcBef>
              <a:spcAft>
                <a:spcPts val="0"/>
              </a:spcAft>
              <a:buClr>
                <a:schemeClr val="dk2"/>
              </a:buClr>
              <a:buSzPts val="1100"/>
              <a:buFont typeface="Arial"/>
              <a:buNone/>
            </a:pPr>
            <a:r>
              <a:rPr b="1" lang="ru" sz="1600">
                <a:solidFill>
                  <a:schemeClr val="dk1"/>
                </a:solidFill>
              </a:rPr>
              <a:t>It helps control spacing and layout.</a:t>
            </a:r>
            <a:endParaRPr b="1" sz="1600">
              <a:solidFill>
                <a:schemeClr val="dk1"/>
              </a:solidFill>
            </a:endParaRPr>
          </a:p>
          <a:p>
            <a:pPr indent="0" lvl="0" marL="0" rtl="0" algn="l">
              <a:spcBef>
                <a:spcPts val="1600"/>
              </a:spcBef>
              <a:spcAft>
                <a:spcPts val="0"/>
              </a:spcAft>
              <a:buClr>
                <a:schemeClr val="dk2"/>
              </a:buClr>
              <a:buSzPts val="1100"/>
              <a:buFont typeface="Arial"/>
              <a:buNone/>
            </a:pPr>
            <a:r>
              <a:rPr b="1" lang="ru" sz="1600">
                <a:solidFill>
                  <a:schemeClr val="dk1"/>
                </a:solidFill>
              </a:rPr>
              <a:t>Layout and Positioning</a:t>
            </a:r>
            <a:endParaRPr b="1" sz="1600">
              <a:solidFill>
                <a:schemeClr val="dk1"/>
              </a:solidFill>
            </a:endParaRPr>
          </a:p>
          <a:p>
            <a:pPr indent="0" lvl="0" marL="0" rtl="0" algn="l">
              <a:spcBef>
                <a:spcPts val="1600"/>
              </a:spcBef>
              <a:spcAft>
                <a:spcPts val="0"/>
              </a:spcAft>
              <a:buClr>
                <a:schemeClr val="dk2"/>
              </a:buClr>
              <a:buSzPts val="1100"/>
              <a:buFont typeface="Arial"/>
              <a:buNone/>
            </a:pPr>
            <a:r>
              <a:rPr b="1" lang="ru" sz="1600">
                <a:solidFill>
                  <a:schemeClr val="dk1"/>
                </a:solidFill>
              </a:rPr>
              <a:t>CSS provides layout tools such as display, positioning, and Flexbox</a:t>
            </a:r>
            <a:endParaRPr b="1" sz="1600">
              <a:solidFill>
                <a:schemeClr val="dk1"/>
              </a:solidFill>
            </a:endParaRPr>
          </a:p>
          <a:p>
            <a:pPr indent="0" lvl="0" marL="0" rtl="0" algn="l">
              <a:spcBef>
                <a:spcPts val="1600"/>
              </a:spcBef>
              <a:spcAft>
                <a:spcPts val="0"/>
              </a:spcAft>
              <a:buClr>
                <a:schemeClr val="dk2"/>
              </a:buClr>
              <a:buSzPts val="1100"/>
              <a:buFont typeface="Arial"/>
              <a:buNone/>
            </a:pPr>
            <a:r>
              <a:rPr b="1" lang="ru" sz="1600">
                <a:solidFill>
                  <a:schemeClr val="dk1"/>
                </a:solidFill>
              </a:rPr>
              <a:t>to arrange elements </a:t>
            </a:r>
            <a:endParaRPr b="1" sz="1600">
              <a:solidFill>
                <a:schemeClr val="dk1"/>
              </a:solidFill>
            </a:endParaRPr>
          </a:p>
          <a:p>
            <a:pPr indent="0" lvl="0" marL="0" rtl="0" algn="l">
              <a:spcBef>
                <a:spcPts val="1600"/>
              </a:spcBef>
              <a:spcAft>
                <a:spcPts val="0"/>
              </a:spcAft>
              <a:buClr>
                <a:schemeClr val="dk2"/>
              </a:buClr>
              <a:buSzPts val="1100"/>
              <a:buFont typeface="Arial"/>
              <a:buNone/>
            </a:pPr>
            <a:r>
              <a:t/>
            </a:r>
            <a:endParaRPr b="1" sz="3000">
              <a:solidFill>
                <a:schemeClr val="dk1"/>
              </a:solidFill>
            </a:endParaRPr>
          </a:p>
          <a:p>
            <a:pPr indent="0" lvl="0" marL="0" rtl="0" algn="l">
              <a:spcBef>
                <a:spcPts val="1600"/>
              </a:spcBef>
              <a:spcAft>
                <a:spcPts val="1600"/>
              </a:spcAft>
              <a:buClr>
                <a:schemeClr val="dk2"/>
              </a:buClr>
              <a:buSzPts val="1100"/>
              <a:buFont typeface="Arial"/>
              <a:buNone/>
            </a:pPr>
            <a:r>
              <a:t/>
            </a:r>
            <a:endParaRPr sz="1800">
              <a:solidFill>
                <a:srgbClr val="000000"/>
              </a:solidFill>
            </a:endParaRPr>
          </a:p>
        </p:txBody>
      </p:sp>
      <p:grpSp>
        <p:nvGrpSpPr>
          <p:cNvPr id="139" name="Google Shape;139;p22"/>
          <p:cNvGrpSpPr/>
          <p:nvPr/>
        </p:nvGrpSpPr>
        <p:grpSpPr>
          <a:xfrm>
            <a:off x="576063" y="1092560"/>
            <a:ext cx="2212050" cy="2537076"/>
            <a:chOff x="6803275" y="395363"/>
            <a:chExt cx="2212050" cy="2537076"/>
          </a:xfrm>
        </p:grpSpPr>
        <p:pic>
          <p:nvPicPr>
            <p:cNvPr id="140" name="Google Shape;140;p22"/>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141" name="Google Shape;141;p22"/>
            <p:cNvPicPr preferRelativeResize="0"/>
            <p:nvPr/>
          </p:nvPicPr>
          <p:blipFill rotWithShape="1">
            <a:blip r:embed="rId4">
              <a:alphaModFix/>
            </a:blip>
            <a:srcRect b="10011" l="9244" r="2118" t="5926"/>
            <a:stretch/>
          </p:blipFill>
          <p:spPr>
            <a:xfrm rot="154826">
              <a:off x="7370663" y="419419"/>
              <a:ext cx="1077273" cy="382687"/>
            </a:xfrm>
            <a:prstGeom prst="rect">
              <a:avLst/>
            </a:prstGeom>
            <a:noFill/>
            <a:ln>
              <a:noFill/>
            </a:ln>
          </p:spPr>
        </p:pic>
        <p:sp>
          <p:nvSpPr>
            <p:cNvPr id="142" name="Google Shape;142;p22"/>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b="1">
                <a:solidFill>
                  <a:schemeClr val="dk1"/>
                </a:solidFill>
                <a:latin typeface="Raleway"/>
                <a:ea typeface="Raleway"/>
                <a:cs typeface="Raleway"/>
                <a:sym typeface="Raleway"/>
              </a:endParaRPr>
            </a:p>
            <a:p>
              <a:pPr indent="0" lvl="0" marL="0" rtl="0" algn="l">
                <a:spcBef>
                  <a:spcPts val="800"/>
                </a:spcBef>
                <a:spcAft>
                  <a:spcPts val="800"/>
                </a:spcAft>
                <a:buNone/>
              </a:pPr>
              <a:r>
                <a:t/>
              </a:r>
              <a:endParaRPr b="1" sz="1200">
                <a:solidFill>
                  <a:schemeClr val="dk1"/>
                </a:solidFill>
                <a:latin typeface="Raleway"/>
                <a:ea typeface="Raleway"/>
                <a:cs typeface="Raleway"/>
                <a:sym typeface="Raleway"/>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Screen Shot 2015-11-20 at 9.47.21 AM.png" id="147" name="Google Shape;147;p23"/>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48" name="Google Shape;148;p23"/>
          <p:cNvSpPr txBox="1"/>
          <p:nvPr>
            <p:ph type="title"/>
          </p:nvPr>
        </p:nvSpPr>
        <p:spPr>
          <a:xfrm>
            <a:off x="283103" y="712141"/>
            <a:ext cx="62442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ru"/>
              <a:t> Java Basics</a:t>
            </a:r>
            <a:endParaRPr/>
          </a:p>
          <a:p>
            <a:pPr indent="0" lvl="0" marL="0" rtl="0" algn="l">
              <a:spcBef>
                <a:spcPts val="0"/>
              </a:spcBef>
              <a:spcAft>
                <a:spcPts val="0"/>
              </a:spcAft>
              <a:buClr>
                <a:schemeClr val="dk2"/>
              </a:buClr>
              <a:buSzPts val="1100"/>
              <a:buFont typeface="Arial"/>
              <a:buNone/>
            </a:pPr>
            <a:r>
              <a:rPr lang="ru"/>
              <a:t>Variables</a:t>
            </a:r>
            <a:endParaRPr/>
          </a:p>
          <a:p>
            <a:pPr indent="0" lvl="0" marL="0" rtl="0" algn="l">
              <a:spcBef>
                <a:spcPts val="0"/>
              </a:spcBef>
              <a:spcAft>
                <a:spcPts val="0"/>
              </a:spcAft>
              <a:buClr>
                <a:schemeClr val="dk2"/>
              </a:buClr>
              <a:buSzPts val="1100"/>
              <a:buFont typeface="Arial"/>
              <a:buNone/>
            </a:pPr>
            <a:r>
              <a:rPr lang="ru"/>
              <a:t>Data types</a:t>
            </a:r>
            <a:endParaRPr/>
          </a:p>
          <a:p>
            <a:pPr indent="0" lvl="0" marL="0" rtl="0" algn="l">
              <a:spcBef>
                <a:spcPts val="0"/>
              </a:spcBef>
              <a:spcAft>
                <a:spcPts val="0"/>
              </a:spcAft>
              <a:buClr>
                <a:schemeClr val="dk2"/>
              </a:buClr>
              <a:buSzPts val="1100"/>
              <a:buFont typeface="Arial"/>
              <a:buNone/>
            </a:pPr>
            <a:r>
              <a:rPr lang="ru"/>
              <a:t>Operators</a:t>
            </a:r>
            <a:endParaRPr/>
          </a:p>
          <a:p>
            <a:pPr indent="0" lvl="0" marL="0" rtl="0" algn="l">
              <a:spcBef>
                <a:spcPts val="0"/>
              </a:spcBef>
              <a:spcAft>
                <a:spcPts val="0"/>
              </a:spcAft>
              <a:buClr>
                <a:schemeClr val="dk2"/>
              </a:buClr>
              <a:buSzPts val="1100"/>
              <a:buFont typeface="Arial"/>
              <a:buNone/>
            </a:pPr>
            <a:r>
              <a:rPr lang="ru"/>
              <a:t>Comments</a:t>
            </a:r>
            <a:endParaRPr/>
          </a:p>
          <a:p>
            <a:pPr indent="0" lvl="0" marL="0" rtl="0" algn="l">
              <a:spcBef>
                <a:spcPts val="0"/>
              </a:spcBef>
              <a:spcAft>
                <a:spcPts val="0"/>
              </a:spcAft>
              <a:buNone/>
            </a:pPr>
            <a:r>
              <a:t/>
            </a:r>
            <a:endParaRPr/>
          </a:p>
        </p:txBody>
      </p:sp>
      <p:grpSp>
        <p:nvGrpSpPr>
          <p:cNvPr id="149" name="Google Shape;149;p23"/>
          <p:cNvGrpSpPr/>
          <p:nvPr/>
        </p:nvGrpSpPr>
        <p:grpSpPr>
          <a:xfrm>
            <a:off x="6781388" y="2464035"/>
            <a:ext cx="2212050" cy="2537076"/>
            <a:chOff x="6803275" y="395363"/>
            <a:chExt cx="2212050" cy="2537076"/>
          </a:xfrm>
        </p:grpSpPr>
        <p:pic>
          <p:nvPicPr>
            <p:cNvPr id="150" name="Google Shape;150;p23"/>
            <p:cNvPicPr preferRelativeResize="0"/>
            <p:nvPr/>
          </p:nvPicPr>
          <p:blipFill>
            <a:blip r:embed="rId4">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151" name="Google Shape;151;p23"/>
            <p:cNvPicPr preferRelativeResize="0"/>
            <p:nvPr/>
          </p:nvPicPr>
          <p:blipFill rotWithShape="1">
            <a:blip r:embed="rId5">
              <a:alphaModFix/>
            </a:blip>
            <a:srcRect b="10011" l="9244" r="2118" t="5926"/>
            <a:stretch/>
          </p:blipFill>
          <p:spPr>
            <a:xfrm rot="154826">
              <a:off x="7370663" y="419419"/>
              <a:ext cx="1077273" cy="382687"/>
            </a:xfrm>
            <a:prstGeom prst="rect">
              <a:avLst/>
            </a:prstGeom>
            <a:noFill/>
            <a:ln>
              <a:noFill/>
            </a:ln>
          </p:spPr>
        </p:pic>
        <p:sp>
          <p:nvSpPr>
            <p:cNvPr id="152" name="Google Shape;152;p23"/>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800"/>
                </a:spcAft>
                <a:buNone/>
              </a:pPr>
              <a:r>
                <a:t/>
              </a:r>
              <a:endParaRPr b="1" sz="1200">
                <a:solidFill>
                  <a:schemeClr val="dk1"/>
                </a:solidFill>
                <a:latin typeface="Raleway"/>
                <a:ea typeface="Raleway"/>
                <a:cs typeface="Raleway"/>
                <a:sym typeface="Raleway"/>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pic>
        <p:nvPicPr>
          <p:cNvPr id="157" name="Google Shape;157;p24"/>
          <p:cNvPicPr preferRelativeResize="0"/>
          <p:nvPr/>
        </p:nvPicPr>
        <p:blipFill>
          <a:blip r:embed="rId3">
            <a:alphaModFix/>
          </a:blip>
          <a:stretch>
            <a:fillRect/>
          </a:stretch>
        </p:blipFill>
        <p:spPr>
          <a:xfrm>
            <a:off x="671620" y="119625"/>
            <a:ext cx="772601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p25"/>
          <p:cNvSpPr txBox="1"/>
          <p:nvPr>
            <p:ph idx="1" type="body"/>
          </p:nvPr>
        </p:nvSpPr>
        <p:spPr>
          <a:xfrm>
            <a:off x="1472800" y="1070100"/>
            <a:ext cx="6900300" cy="318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ru" sz="3000">
                <a:solidFill>
                  <a:schemeClr val="dk1"/>
                </a:solidFill>
              </a:rPr>
              <a:t>Java Control Structures</a:t>
            </a:r>
            <a:endParaRPr b="1" sz="3000">
              <a:solidFill>
                <a:schemeClr val="dk1"/>
              </a:solidFill>
            </a:endParaRPr>
          </a:p>
          <a:p>
            <a:pPr indent="0" lvl="0" marL="0" rtl="0" algn="l">
              <a:spcBef>
                <a:spcPts val="1600"/>
              </a:spcBef>
              <a:spcAft>
                <a:spcPts val="0"/>
              </a:spcAft>
              <a:buClr>
                <a:schemeClr val="dk2"/>
              </a:buClr>
              <a:buSzPts val="1100"/>
              <a:buFont typeface="Arial"/>
              <a:buNone/>
            </a:pPr>
            <a:r>
              <a:rPr b="1" lang="ru" sz="3000">
                <a:solidFill>
                  <a:schemeClr val="dk1"/>
                </a:solidFill>
              </a:rPr>
              <a:t>If / else statements</a:t>
            </a:r>
            <a:endParaRPr b="1" sz="3000">
              <a:solidFill>
                <a:schemeClr val="dk1"/>
              </a:solidFill>
            </a:endParaRPr>
          </a:p>
          <a:p>
            <a:pPr indent="0" lvl="0" marL="0" rtl="0" algn="l">
              <a:spcBef>
                <a:spcPts val="1600"/>
              </a:spcBef>
              <a:spcAft>
                <a:spcPts val="0"/>
              </a:spcAft>
              <a:buClr>
                <a:schemeClr val="dk2"/>
              </a:buClr>
              <a:buSzPts val="1100"/>
              <a:buFont typeface="Arial"/>
              <a:buNone/>
            </a:pPr>
            <a:r>
              <a:rPr b="1" lang="ru" sz="3000">
                <a:solidFill>
                  <a:schemeClr val="dk1"/>
                </a:solidFill>
              </a:rPr>
              <a:t>Loops (for, while)</a:t>
            </a:r>
            <a:endParaRPr b="1" sz="3000">
              <a:solidFill>
                <a:schemeClr val="dk1"/>
              </a:solidFill>
            </a:endParaRPr>
          </a:p>
          <a:p>
            <a:pPr indent="0" lvl="0" marL="0" rtl="0" algn="l">
              <a:spcBef>
                <a:spcPts val="1600"/>
              </a:spcBef>
              <a:spcAft>
                <a:spcPts val="0"/>
              </a:spcAft>
              <a:buClr>
                <a:schemeClr val="dk2"/>
              </a:buClr>
              <a:buSzPts val="1100"/>
              <a:buFont typeface="Arial"/>
              <a:buNone/>
            </a:pPr>
            <a:r>
              <a:rPr b="1" lang="ru" sz="3000">
                <a:solidFill>
                  <a:schemeClr val="dk1"/>
                </a:solidFill>
              </a:rPr>
              <a:t>Logical conditions</a:t>
            </a:r>
            <a:endParaRPr b="1" sz="3000">
              <a:solidFill>
                <a:schemeClr val="dk1"/>
              </a:solidFill>
            </a:endParaRPr>
          </a:p>
          <a:p>
            <a:pPr indent="0" lvl="0" marL="0" rtl="0" algn="l">
              <a:spcBef>
                <a:spcPts val="1600"/>
              </a:spcBef>
              <a:spcAft>
                <a:spcPts val="1600"/>
              </a:spcAft>
              <a:buClr>
                <a:schemeClr val="dk2"/>
              </a:buClr>
              <a:buSzPts val="1100"/>
              <a:buFont typeface="Arial"/>
              <a:buNone/>
            </a:pPr>
            <a:r>
              <a:t/>
            </a:r>
            <a:endParaRPr b="1" sz="3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6" name="Shape 166"/>
        <p:cNvGrpSpPr/>
        <p:nvPr/>
      </p:nvGrpSpPr>
      <p:grpSpPr>
        <a:xfrm>
          <a:off x="0" y="0"/>
          <a:ext cx="0" cy="0"/>
          <a:chOff x="0" y="0"/>
          <a:chExt cx="0" cy="0"/>
        </a:xfrm>
      </p:grpSpPr>
      <p:pic>
        <p:nvPicPr>
          <p:cNvPr id="167" name="Google Shape;167;p26"/>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168" name="Google Shape;168;p26"/>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169" name="Google Shape;169;p26"/>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0"/>
              </a:spcBef>
              <a:spcAft>
                <a:spcPts val="1000"/>
              </a:spcAft>
              <a:buNone/>
            </a:pPr>
            <a:r>
              <a:rPr b="1" lang="ru" sz="1200">
                <a:solidFill>
                  <a:schemeClr val="dk2"/>
                </a:solidFill>
                <a:latin typeface="Raleway"/>
                <a:ea typeface="Raleway"/>
                <a:cs typeface="Raleway"/>
                <a:sym typeface="Raleway"/>
              </a:rPr>
              <a:t>HTML Document Structure</a:t>
            </a:r>
            <a:endParaRPr b="1" sz="3000">
              <a:solidFill>
                <a:schemeClr val="lt2"/>
              </a:solidFill>
              <a:latin typeface="Raleway"/>
              <a:ea typeface="Raleway"/>
              <a:cs typeface="Raleway"/>
              <a:sym typeface="Raleway"/>
            </a:endParaRPr>
          </a:p>
        </p:txBody>
      </p:sp>
      <p:sp>
        <p:nvSpPr>
          <p:cNvPr id="170" name="Google Shape;170;p26"/>
          <p:cNvSpPr txBox="1"/>
          <p:nvPr>
            <p:ph idx="4294967295" type="body"/>
          </p:nvPr>
        </p:nvSpPr>
        <p:spPr>
          <a:xfrm>
            <a:off x="2915350" y="1377475"/>
            <a:ext cx="3432900" cy="3327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aleway"/>
              <a:buChar char="➔"/>
            </a:pPr>
            <a:r>
              <a:rPr lang="ru" sz="1200">
                <a:latin typeface="Raleway"/>
                <a:ea typeface="Raleway"/>
                <a:cs typeface="Raleway"/>
                <a:sym typeface="Raleway"/>
              </a:rPr>
              <a:t>HTML Document Structure</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&lt;!DOCTYPE html&gt;</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&lt;html&gt;</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&lt;head&gt;</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&lt;body&gt;</a:t>
            </a:r>
            <a:endParaRPr sz="1200">
              <a:latin typeface="Raleway"/>
              <a:ea typeface="Raleway"/>
              <a:cs typeface="Raleway"/>
              <a:sym typeface="Raleway"/>
            </a:endParaRPr>
          </a:p>
          <a:p>
            <a:pPr indent="0" lvl="0" marL="457200" rtl="0" algn="l">
              <a:spcBef>
                <a:spcPts val="1000"/>
              </a:spcBef>
              <a:spcAft>
                <a:spcPts val="1000"/>
              </a:spcAft>
              <a:buNone/>
            </a:pPr>
            <a:r>
              <a:t/>
            </a:r>
            <a:endParaRPr sz="1200">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4" name="Shape 174"/>
        <p:cNvGrpSpPr/>
        <p:nvPr/>
      </p:nvGrpSpPr>
      <p:grpSpPr>
        <a:xfrm>
          <a:off x="0" y="0"/>
          <a:ext cx="0" cy="0"/>
          <a:chOff x="0" y="0"/>
          <a:chExt cx="0" cy="0"/>
        </a:xfrm>
      </p:grpSpPr>
      <p:pic>
        <p:nvPicPr>
          <p:cNvPr id="175" name="Google Shape;175;p27"/>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176" name="Google Shape;176;p27"/>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177" name="Google Shape;177;p27"/>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0"/>
              </a:spcBef>
              <a:spcAft>
                <a:spcPts val="1000"/>
              </a:spcAft>
              <a:buNone/>
            </a:pPr>
            <a:r>
              <a:rPr b="1" lang="ru" sz="1200">
                <a:solidFill>
                  <a:schemeClr val="dk2"/>
                </a:solidFill>
                <a:latin typeface="Raleway"/>
                <a:ea typeface="Raleway"/>
                <a:cs typeface="Raleway"/>
                <a:sym typeface="Raleway"/>
              </a:rPr>
              <a:t>What Is Java</a:t>
            </a:r>
            <a:endParaRPr b="1" sz="3000">
              <a:solidFill>
                <a:schemeClr val="lt2"/>
              </a:solidFill>
              <a:latin typeface="Raleway"/>
              <a:ea typeface="Raleway"/>
              <a:cs typeface="Raleway"/>
              <a:sym typeface="Raleway"/>
            </a:endParaRPr>
          </a:p>
        </p:txBody>
      </p:sp>
      <p:sp>
        <p:nvSpPr>
          <p:cNvPr id="178" name="Google Shape;178;p27"/>
          <p:cNvSpPr txBox="1"/>
          <p:nvPr>
            <p:ph idx="4294967295" type="body"/>
          </p:nvPr>
        </p:nvSpPr>
        <p:spPr>
          <a:xfrm>
            <a:off x="2915350" y="1377475"/>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Object-oriented programming language</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Platform-independent</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Widely used in applications</a:t>
            </a:r>
            <a:endParaRPr sz="1200">
              <a:latin typeface="Raleway"/>
              <a:ea typeface="Raleway"/>
              <a:cs typeface="Raleway"/>
              <a:sym typeface="Raleway"/>
            </a:endParaRPr>
          </a:p>
          <a:p>
            <a:pPr indent="0" lvl="0" marL="457200" rtl="0" algn="l">
              <a:spcBef>
                <a:spcPts val="1000"/>
              </a:spcBef>
              <a:spcAft>
                <a:spcPts val="0"/>
              </a:spcAft>
              <a:buNone/>
            </a:pPr>
            <a:r>
              <a:t/>
            </a:r>
            <a:endParaRPr sz="1200">
              <a:latin typeface="Raleway"/>
              <a:ea typeface="Raleway"/>
              <a:cs typeface="Raleway"/>
              <a:sym typeface="Raleway"/>
            </a:endParaRPr>
          </a:p>
          <a:p>
            <a:pPr indent="0" lvl="0" marL="457200" rtl="0" algn="l">
              <a:spcBef>
                <a:spcPts val="1000"/>
              </a:spcBef>
              <a:spcAft>
                <a:spcPts val="1000"/>
              </a:spcAft>
              <a:buNone/>
            </a:pPr>
            <a:r>
              <a:t/>
            </a:r>
            <a:endParaRPr sz="1200">
              <a:latin typeface="Raleway"/>
              <a:ea typeface="Raleway"/>
              <a:cs typeface="Raleway"/>
              <a:sym typeface="Ralew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2" name="Shape 182"/>
        <p:cNvGrpSpPr/>
        <p:nvPr/>
      </p:nvGrpSpPr>
      <p:grpSpPr>
        <a:xfrm>
          <a:off x="0" y="0"/>
          <a:ext cx="0" cy="0"/>
          <a:chOff x="0" y="0"/>
          <a:chExt cx="0" cy="0"/>
        </a:xfrm>
      </p:grpSpPr>
      <p:pic>
        <p:nvPicPr>
          <p:cNvPr id="183" name="Google Shape;183;p28"/>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184" name="Google Shape;184;p28"/>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185" name="Google Shape;185;p28"/>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0"/>
              </a:spcBef>
              <a:spcAft>
                <a:spcPts val="1000"/>
              </a:spcAft>
              <a:buNone/>
            </a:pPr>
            <a:r>
              <a:rPr b="1" lang="ru" sz="1200">
                <a:solidFill>
                  <a:schemeClr val="dk2"/>
                </a:solidFill>
                <a:latin typeface="Raleway"/>
                <a:ea typeface="Raleway"/>
                <a:cs typeface="Raleway"/>
                <a:sym typeface="Raleway"/>
              </a:rPr>
              <a:t>Module 3: Introduction to HTML</a:t>
            </a:r>
            <a:endParaRPr b="1" sz="3000">
              <a:solidFill>
                <a:schemeClr val="lt2"/>
              </a:solidFill>
              <a:latin typeface="Raleway"/>
              <a:ea typeface="Raleway"/>
              <a:cs typeface="Raleway"/>
              <a:sym typeface="Raleway"/>
            </a:endParaRPr>
          </a:p>
        </p:txBody>
      </p:sp>
      <p:sp>
        <p:nvSpPr>
          <p:cNvPr id="186" name="Google Shape;186;p28"/>
          <p:cNvSpPr txBox="1"/>
          <p:nvPr>
            <p:ph idx="4294967295" type="body"/>
          </p:nvPr>
        </p:nvSpPr>
        <p:spPr>
          <a:xfrm>
            <a:off x="2818175" y="1266050"/>
            <a:ext cx="3432900" cy="3327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aleway"/>
              <a:buChar char="➔"/>
            </a:pPr>
            <a:r>
              <a:rPr lang="ru" sz="1200">
                <a:latin typeface="Raleway"/>
                <a:ea typeface="Raleway"/>
                <a:cs typeface="Raleway"/>
                <a:sym typeface="Raleway"/>
              </a:rPr>
              <a:t> This module introduced HTML, which is used to create the structure of web pages.</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I learned about HTML tags, elements, and page structure.</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The module explained how to create headings, paragraphs, links, and images.</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It helped me understand how web pages are built.</a:t>
            </a:r>
            <a:endParaRPr sz="1200">
              <a:latin typeface="Raleway"/>
              <a:ea typeface="Raleway"/>
              <a:cs typeface="Raleway"/>
              <a:sym typeface="Raleway"/>
            </a:endParaRPr>
          </a:p>
          <a:p>
            <a:pPr indent="-304800" lvl="0" marL="457200" rtl="0" algn="l">
              <a:spcBef>
                <a:spcPts val="1000"/>
              </a:spcBef>
              <a:spcAft>
                <a:spcPts val="0"/>
              </a:spcAft>
              <a:buClr>
                <a:schemeClr val="dk1"/>
              </a:buClr>
              <a:buSzPts val="1200"/>
              <a:buFont typeface="Raleway"/>
              <a:buChar char="➔"/>
            </a:pPr>
            <a:r>
              <a:t/>
            </a:r>
            <a:endParaRPr sz="1200">
              <a:latin typeface="Raleway"/>
              <a:ea typeface="Raleway"/>
              <a:cs typeface="Raleway"/>
              <a:sym typeface="Raleway"/>
            </a:endParaRPr>
          </a:p>
          <a:p>
            <a:pPr indent="0" lvl="0" marL="457200" rtl="0" algn="l">
              <a:spcBef>
                <a:spcPts val="1000"/>
              </a:spcBef>
              <a:spcAft>
                <a:spcPts val="0"/>
              </a:spcAft>
              <a:buNone/>
            </a:pPr>
            <a:r>
              <a:t/>
            </a:r>
            <a:endParaRPr sz="1200">
              <a:latin typeface="Raleway"/>
              <a:ea typeface="Raleway"/>
              <a:cs typeface="Raleway"/>
              <a:sym typeface="Raleway"/>
            </a:endParaRPr>
          </a:p>
          <a:p>
            <a:pPr indent="0" lvl="0" marL="457200" rtl="0" algn="l">
              <a:spcBef>
                <a:spcPts val="1000"/>
              </a:spcBef>
              <a:spcAft>
                <a:spcPts val="1000"/>
              </a:spcAft>
              <a:buNone/>
            </a:pPr>
            <a:r>
              <a:t/>
            </a:r>
            <a:endParaRPr sz="1200">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0" name="Shape 190"/>
        <p:cNvGrpSpPr/>
        <p:nvPr/>
      </p:nvGrpSpPr>
      <p:grpSpPr>
        <a:xfrm>
          <a:off x="0" y="0"/>
          <a:ext cx="0" cy="0"/>
          <a:chOff x="0" y="0"/>
          <a:chExt cx="0" cy="0"/>
        </a:xfrm>
      </p:grpSpPr>
      <p:pic>
        <p:nvPicPr>
          <p:cNvPr id="191" name="Google Shape;191;p29"/>
          <p:cNvPicPr preferRelativeResize="0"/>
          <p:nvPr/>
        </p:nvPicPr>
        <p:blipFill>
          <a:blip r:embed="rId3">
            <a:alphaModFix/>
          </a:blip>
          <a:stretch>
            <a:fillRect/>
          </a:stretch>
        </p:blipFill>
        <p:spPr>
          <a:xfrm>
            <a:off x="959800" y="152400"/>
            <a:ext cx="7288482" cy="48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1106450" y="440625"/>
            <a:ext cx="6645000" cy="253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0" lang="ru" sz="1700"/>
              <a:t>What Is CSS</a:t>
            </a:r>
            <a:endParaRPr b="0" sz="1700"/>
          </a:p>
          <a:p>
            <a:pPr indent="0" lvl="0" marL="0" rtl="0" algn="l">
              <a:spcBef>
                <a:spcPts val="1000"/>
              </a:spcBef>
              <a:spcAft>
                <a:spcPts val="0"/>
              </a:spcAft>
              <a:buClr>
                <a:schemeClr val="dk2"/>
              </a:buClr>
              <a:buSzPts val="1100"/>
              <a:buFont typeface="Arial"/>
              <a:buNone/>
            </a:pPr>
            <a:r>
              <a:rPr b="0" lang="ru" sz="1700"/>
              <a:t>Cascading Style Sheets</a:t>
            </a:r>
            <a:endParaRPr b="0" sz="1700"/>
          </a:p>
          <a:p>
            <a:pPr indent="0" lvl="0" marL="0" rtl="0" algn="l">
              <a:spcBef>
                <a:spcPts val="1000"/>
              </a:spcBef>
              <a:spcAft>
                <a:spcPts val="0"/>
              </a:spcAft>
              <a:buClr>
                <a:schemeClr val="dk2"/>
              </a:buClr>
              <a:buSzPts val="1100"/>
              <a:buFont typeface="Arial"/>
              <a:buNone/>
            </a:pPr>
            <a:r>
              <a:rPr b="0" lang="ru" sz="1700"/>
              <a:t>Controls design and layout</a:t>
            </a:r>
            <a:endParaRPr b="0" sz="1700"/>
          </a:p>
          <a:p>
            <a:pPr indent="0" lvl="0" marL="0" rtl="0" algn="l">
              <a:spcBef>
                <a:spcPts val="1000"/>
              </a:spcBef>
              <a:spcAft>
                <a:spcPts val="0"/>
              </a:spcAft>
              <a:buClr>
                <a:schemeClr val="dk2"/>
              </a:buClr>
              <a:buSzPts val="1100"/>
              <a:buFont typeface="Arial"/>
              <a:buNone/>
            </a:pPr>
            <a:r>
              <a:rPr b="0" lang="ru" sz="1700"/>
              <a:t>Makes websites visually attractive</a:t>
            </a:r>
            <a:endParaRPr b="0" sz="1700"/>
          </a:p>
          <a:p>
            <a:pPr indent="0" lvl="0" marL="0" rtl="0" algn="l">
              <a:spcBef>
                <a:spcPts val="1000"/>
              </a:spcBef>
              <a:spcAft>
                <a:spcPts val="0"/>
              </a:spcAft>
              <a:buClr>
                <a:schemeClr val="dk2"/>
              </a:buClr>
              <a:buSzPts val="1100"/>
              <a:buFont typeface="Arial"/>
              <a:buNone/>
            </a:pPr>
            <a:r>
              <a:rPr b="0" lang="ru" sz="1700"/>
              <a:t>Slide 12 — CSS Syntax</a:t>
            </a:r>
            <a:endParaRPr b="0" sz="1700"/>
          </a:p>
          <a:p>
            <a:pPr indent="0" lvl="0" marL="0" rtl="0" algn="l">
              <a:spcBef>
                <a:spcPts val="1000"/>
              </a:spcBef>
              <a:spcAft>
                <a:spcPts val="0"/>
              </a:spcAft>
              <a:buClr>
                <a:schemeClr val="dk2"/>
              </a:buClr>
              <a:buSzPts val="1100"/>
              <a:buFont typeface="Arial"/>
              <a:buNone/>
            </a:pPr>
            <a:r>
              <a:rPr b="0" lang="ru" sz="1700"/>
              <a:t>Selector</a:t>
            </a:r>
            <a:endParaRPr b="0" sz="1700"/>
          </a:p>
          <a:p>
            <a:pPr indent="0" lvl="0" marL="0" rtl="0" algn="l">
              <a:spcBef>
                <a:spcPts val="1000"/>
              </a:spcBef>
              <a:spcAft>
                <a:spcPts val="0"/>
              </a:spcAft>
              <a:buClr>
                <a:schemeClr val="dk2"/>
              </a:buClr>
              <a:buSzPts val="1100"/>
              <a:buFont typeface="Arial"/>
              <a:buNone/>
            </a:pPr>
            <a:r>
              <a:rPr b="0" lang="ru" sz="1700"/>
              <a:t>Property</a:t>
            </a:r>
            <a:endParaRPr b="0" sz="1700"/>
          </a:p>
          <a:p>
            <a:pPr indent="0" lvl="0" marL="0" rtl="0" algn="l">
              <a:spcBef>
                <a:spcPts val="1000"/>
              </a:spcBef>
              <a:spcAft>
                <a:spcPts val="0"/>
              </a:spcAft>
              <a:buClr>
                <a:schemeClr val="dk2"/>
              </a:buClr>
              <a:buSzPts val="1100"/>
              <a:buFont typeface="Arial"/>
              <a:buNone/>
            </a:pPr>
            <a:r>
              <a:rPr b="0" lang="ru" sz="1700"/>
              <a:t>Value</a:t>
            </a:r>
            <a:endParaRPr b="0" sz="1700"/>
          </a:p>
          <a:p>
            <a:pPr indent="0" lvl="0" marL="0" rtl="0" algn="l">
              <a:spcBef>
                <a:spcPts val="1000"/>
              </a:spcBef>
              <a:spcAft>
                <a:spcPts val="0"/>
              </a:spcAft>
              <a:buClr>
                <a:schemeClr val="dk2"/>
              </a:buClr>
              <a:buSzPts val="1100"/>
              <a:buFont typeface="Arial"/>
              <a:buNone/>
            </a:pPr>
            <a:r>
              <a:rPr b="0" lang="ru" sz="1700"/>
              <a:t>Example:</a:t>
            </a:r>
            <a:endParaRPr b="0" sz="1700"/>
          </a:p>
          <a:p>
            <a:pPr indent="0" lvl="0" marL="0" rtl="0" algn="l">
              <a:spcBef>
                <a:spcPts val="1000"/>
              </a:spcBef>
              <a:spcAft>
                <a:spcPts val="0"/>
              </a:spcAft>
              <a:buClr>
                <a:schemeClr val="dk2"/>
              </a:buClr>
              <a:buSzPts val="1100"/>
              <a:buFont typeface="Arial"/>
              <a:buNone/>
            </a:pPr>
            <a:r>
              <a:rPr b="0" lang="ru" sz="1700"/>
              <a:t>p { color: blue; }</a:t>
            </a:r>
            <a:endParaRPr b="0" sz="1700"/>
          </a:p>
          <a:p>
            <a:pPr indent="0" lvl="0" marL="0" rtl="0" algn="l">
              <a:spcBef>
                <a:spcPts val="1000"/>
              </a:spcBef>
              <a:spcAft>
                <a:spcPts val="1000"/>
              </a:spcAft>
              <a:buNone/>
            </a:pPr>
            <a:r>
              <a:t/>
            </a:r>
            <a:endParaRPr b="0" sz="2300"/>
          </a:p>
        </p:txBody>
      </p:sp>
      <p:sp>
        <p:nvSpPr>
          <p:cNvPr id="197" name="Google Shape;197;p30"/>
          <p:cNvSpPr txBox="1"/>
          <p:nvPr/>
        </p:nvSpPr>
        <p:spPr>
          <a:xfrm>
            <a:off x="2742700" y="44082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accent5"/>
              </a:solidFill>
              <a:latin typeface="Lato"/>
              <a:ea typeface="Lato"/>
              <a:cs typeface="Lato"/>
              <a:sym typeface="Lato"/>
            </a:endParaRPr>
          </a:p>
        </p:txBody>
      </p:sp>
      <p:grpSp>
        <p:nvGrpSpPr>
          <p:cNvPr id="198" name="Google Shape;198;p30"/>
          <p:cNvGrpSpPr/>
          <p:nvPr/>
        </p:nvGrpSpPr>
        <p:grpSpPr>
          <a:xfrm>
            <a:off x="6721588" y="1641660"/>
            <a:ext cx="2212050" cy="2537076"/>
            <a:chOff x="6803275" y="395363"/>
            <a:chExt cx="2212050" cy="2537076"/>
          </a:xfrm>
        </p:grpSpPr>
        <p:pic>
          <p:nvPicPr>
            <p:cNvPr id="199" name="Google Shape;199;p30"/>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200" name="Google Shape;200;p30"/>
            <p:cNvPicPr preferRelativeResize="0"/>
            <p:nvPr/>
          </p:nvPicPr>
          <p:blipFill rotWithShape="1">
            <a:blip r:embed="rId4">
              <a:alphaModFix/>
            </a:blip>
            <a:srcRect b="10011" l="9244" r="2118" t="5926"/>
            <a:stretch/>
          </p:blipFill>
          <p:spPr>
            <a:xfrm rot="154826">
              <a:off x="7370663" y="419419"/>
              <a:ext cx="1077273" cy="382687"/>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553225" y="1135900"/>
            <a:ext cx="6645000" cy="253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ru" sz="1700"/>
              <a:t>HTML allows creating ordered and unordered lists.</a:t>
            </a:r>
            <a:endParaRPr b="0" sz="1700"/>
          </a:p>
          <a:p>
            <a:pPr indent="0" lvl="0" marL="0" rtl="0" algn="l">
              <a:spcBef>
                <a:spcPts val="1000"/>
              </a:spcBef>
              <a:spcAft>
                <a:spcPts val="0"/>
              </a:spcAft>
              <a:buNone/>
            </a:pPr>
            <a:r>
              <a:rPr b="0" lang="ru" sz="1700"/>
              <a:t>Tables are used to organize data into rows and columns.</a:t>
            </a:r>
            <a:endParaRPr b="0" sz="1700"/>
          </a:p>
          <a:p>
            <a:pPr indent="0" lvl="0" marL="0" rtl="0" algn="l">
              <a:spcBef>
                <a:spcPts val="1000"/>
              </a:spcBef>
              <a:spcAft>
                <a:spcPts val="0"/>
              </a:spcAft>
              <a:buNone/>
            </a:pPr>
            <a:r>
              <a:rPr b="0" lang="ru" sz="1700"/>
              <a:t>HTML Forms</a:t>
            </a:r>
            <a:endParaRPr b="0" sz="1700"/>
          </a:p>
          <a:p>
            <a:pPr indent="0" lvl="0" marL="0" rtl="0" algn="l">
              <a:spcBef>
                <a:spcPts val="1000"/>
              </a:spcBef>
              <a:spcAft>
                <a:spcPts val="0"/>
              </a:spcAft>
              <a:buNone/>
            </a:pPr>
            <a:r>
              <a:rPr b="0" lang="ru" sz="1700"/>
              <a:t>Forms are used to collect user input.</a:t>
            </a:r>
            <a:endParaRPr b="0" sz="1700"/>
          </a:p>
          <a:p>
            <a:pPr indent="0" lvl="0" marL="0" rtl="0" algn="l">
              <a:spcBef>
                <a:spcPts val="1000"/>
              </a:spcBef>
              <a:spcAft>
                <a:spcPts val="0"/>
              </a:spcAft>
              <a:buNone/>
            </a:pPr>
            <a:r>
              <a:rPr b="0" lang="ru" sz="1700"/>
              <a:t>They include text fields, buttons, and input elements.</a:t>
            </a:r>
            <a:endParaRPr b="0" sz="1700"/>
          </a:p>
          <a:p>
            <a:pPr indent="0" lvl="0" marL="0" rtl="0" algn="l">
              <a:spcBef>
                <a:spcPts val="1000"/>
              </a:spcBef>
              <a:spcAft>
                <a:spcPts val="0"/>
              </a:spcAft>
              <a:buNone/>
            </a:pPr>
            <a:r>
              <a:t/>
            </a:r>
            <a:endParaRPr b="0" sz="1700"/>
          </a:p>
          <a:p>
            <a:pPr indent="0" lvl="0" marL="0" rtl="0" algn="l">
              <a:spcBef>
                <a:spcPts val="1000"/>
              </a:spcBef>
              <a:spcAft>
                <a:spcPts val="1000"/>
              </a:spcAft>
              <a:buNone/>
            </a:pPr>
            <a:r>
              <a:t/>
            </a:r>
            <a:endParaRPr b="0" sz="2300"/>
          </a:p>
        </p:txBody>
      </p:sp>
      <p:sp>
        <p:nvSpPr>
          <p:cNvPr id="206" name="Google Shape;206;p31"/>
          <p:cNvSpPr txBox="1"/>
          <p:nvPr/>
        </p:nvSpPr>
        <p:spPr>
          <a:xfrm>
            <a:off x="2742700" y="44082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accent5"/>
              </a:solidFill>
              <a:latin typeface="Lato"/>
              <a:ea typeface="Lato"/>
              <a:cs typeface="Lato"/>
              <a:sym typeface="Lato"/>
            </a:endParaRPr>
          </a:p>
        </p:txBody>
      </p:sp>
      <p:grpSp>
        <p:nvGrpSpPr>
          <p:cNvPr id="207" name="Google Shape;207;p31"/>
          <p:cNvGrpSpPr/>
          <p:nvPr/>
        </p:nvGrpSpPr>
        <p:grpSpPr>
          <a:xfrm>
            <a:off x="6721588" y="1641660"/>
            <a:ext cx="2212050" cy="2537076"/>
            <a:chOff x="6803275" y="395363"/>
            <a:chExt cx="2212050" cy="2537076"/>
          </a:xfrm>
        </p:grpSpPr>
        <p:pic>
          <p:nvPicPr>
            <p:cNvPr id="208" name="Google Shape;208;p31"/>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209" name="Google Shape;209;p31"/>
            <p:cNvPicPr preferRelativeResize="0"/>
            <p:nvPr/>
          </p:nvPicPr>
          <p:blipFill rotWithShape="1">
            <a:blip r:embed="rId4">
              <a:alphaModFix/>
            </a:blip>
            <a:srcRect b="10011" l="9244" r="2118" t="5926"/>
            <a:stretch/>
          </p:blipFill>
          <p:spPr>
            <a:xfrm rot="154826">
              <a:off x="7370663" y="419419"/>
              <a:ext cx="1077273" cy="382687"/>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740125" y="1360625"/>
            <a:ext cx="4627800" cy="149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lang="ru" sz="2100">
                <a:solidFill>
                  <a:schemeClr val="accent5"/>
                </a:solidFill>
              </a:rPr>
              <a:t>Common HTML Tags</a:t>
            </a:r>
            <a:endParaRPr sz="2100">
              <a:solidFill>
                <a:schemeClr val="accent5"/>
              </a:solidFill>
            </a:endParaRPr>
          </a:p>
          <a:p>
            <a:pPr indent="0" lvl="0" marL="0" rtl="0" algn="l">
              <a:lnSpc>
                <a:spcPct val="115000"/>
              </a:lnSpc>
              <a:spcBef>
                <a:spcPts val="1000"/>
              </a:spcBef>
              <a:spcAft>
                <a:spcPts val="0"/>
              </a:spcAft>
              <a:buClr>
                <a:schemeClr val="dk2"/>
              </a:buClr>
              <a:buSzPts val="1100"/>
              <a:buFont typeface="Arial"/>
              <a:buNone/>
            </a:pPr>
            <a:r>
              <a:rPr lang="ru" sz="2100">
                <a:solidFill>
                  <a:schemeClr val="accent5"/>
                </a:solidFill>
              </a:rPr>
              <a:t>Headings (&lt;h1&gt;–&lt;h6&gt;)</a:t>
            </a:r>
            <a:endParaRPr sz="2100">
              <a:solidFill>
                <a:schemeClr val="accent5"/>
              </a:solidFill>
            </a:endParaRPr>
          </a:p>
          <a:p>
            <a:pPr indent="0" lvl="0" marL="0" rtl="0" algn="l">
              <a:lnSpc>
                <a:spcPct val="115000"/>
              </a:lnSpc>
              <a:spcBef>
                <a:spcPts val="1000"/>
              </a:spcBef>
              <a:spcAft>
                <a:spcPts val="0"/>
              </a:spcAft>
              <a:buClr>
                <a:schemeClr val="dk2"/>
              </a:buClr>
              <a:buSzPts val="1100"/>
              <a:buFont typeface="Arial"/>
              <a:buNone/>
            </a:pPr>
            <a:r>
              <a:rPr lang="ru" sz="2100">
                <a:solidFill>
                  <a:schemeClr val="accent5"/>
                </a:solidFill>
              </a:rPr>
              <a:t>Paragraph (&lt;p&gt;)</a:t>
            </a:r>
            <a:endParaRPr sz="2100">
              <a:solidFill>
                <a:schemeClr val="accent5"/>
              </a:solidFill>
            </a:endParaRPr>
          </a:p>
          <a:p>
            <a:pPr indent="0" lvl="0" marL="0" rtl="0" algn="l">
              <a:lnSpc>
                <a:spcPct val="115000"/>
              </a:lnSpc>
              <a:spcBef>
                <a:spcPts val="1000"/>
              </a:spcBef>
              <a:spcAft>
                <a:spcPts val="0"/>
              </a:spcAft>
              <a:buClr>
                <a:schemeClr val="dk2"/>
              </a:buClr>
              <a:buSzPts val="1100"/>
              <a:buFont typeface="Arial"/>
              <a:buNone/>
            </a:pPr>
            <a:r>
              <a:rPr lang="ru" sz="2100">
                <a:solidFill>
                  <a:schemeClr val="accent5"/>
                </a:solidFill>
              </a:rPr>
              <a:t>Links (&lt;a&gt;)</a:t>
            </a:r>
            <a:endParaRPr sz="2100">
              <a:solidFill>
                <a:schemeClr val="accent5"/>
              </a:solidFill>
            </a:endParaRPr>
          </a:p>
          <a:p>
            <a:pPr indent="0" lvl="0" marL="0" rtl="0" algn="l">
              <a:lnSpc>
                <a:spcPct val="115000"/>
              </a:lnSpc>
              <a:spcBef>
                <a:spcPts val="1000"/>
              </a:spcBef>
              <a:spcAft>
                <a:spcPts val="0"/>
              </a:spcAft>
              <a:buClr>
                <a:schemeClr val="dk2"/>
              </a:buClr>
              <a:buSzPts val="1100"/>
              <a:buFont typeface="Arial"/>
              <a:buNone/>
            </a:pPr>
            <a:r>
              <a:rPr lang="ru" sz="2300">
                <a:solidFill>
                  <a:schemeClr val="accent5"/>
                </a:solidFill>
              </a:rPr>
              <a:t>Images (&lt;img&gt;)</a:t>
            </a:r>
            <a:endParaRPr sz="2300">
              <a:solidFill>
                <a:schemeClr val="accent5"/>
              </a:solidFill>
            </a:endParaRPr>
          </a:p>
          <a:p>
            <a:pPr indent="0" lvl="0" marL="0" rtl="0" algn="l">
              <a:lnSpc>
                <a:spcPct val="115000"/>
              </a:lnSpc>
              <a:spcBef>
                <a:spcPts val="1000"/>
              </a:spcBef>
              <a:spcAft>
                <a:spcPts val="1000"/>
              </a:spcAft>
              <a:buNone/>
            </a:pPr>
            <a:r>
              <a:t/>
            </a:r>
            <a:endParaRPr sz="4200">
              <a:solidFill>
                <a:schemeClr val="accent5"/>
              </a:solidFill>
            </a:endParaRPr>
          </a:p>
        </p:txBody>
      </p:sp>
      <p:grpSp>
        <p:nvGrpSpPr>
          <p:cNvPr id="215" name="Google Shape;215;p32"/>
          <p:cNvGrpSpPr/>
          <p:nvPr/>
        </p:nvGrpSpPr>
        <p:grpSpPr>
          <a:xfrm>
            <a:off x="5944088" y="1626735"/>
            <a:ext cx="2212050" cy="2537076"/>
            <a:chOff x="6803275" y="395363"/>
            <a:chExt cx="2212050" cy="2537076"/>
          </a:xfrm>
        </p:grpSpPr>
        <p:pic>
          <p:nvPicPr>
            <p:cNvPr id="216" name="Google Shape;216;p32"/>
            <p:cNvPicPr preferRelativeResize="0"/>
            <p:nvPr/>
          </p:nvPicPr>
          <p:blipFill>
            <a:blip r:embed="rId3">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217" name="Google Shape;217;p32"/>
            <p:cNvPicPr preferRelativeResize="0"/>
            <p:nvPr/>
          </p:nvPicPr>
          <p:blipFill rotWithShape="1">
            <a:blip r:embed="rId4">
              <a:alphaModFix/>
            </a:blip>
            <a:srcRect b="10011" l="9244" r="2118" t="5926"/>
            <a:stretch/>
          </p:blipFill>
          <p:spPr>
            <a:xfrm rot="154826">
              <a:off x="7370663" y="419419"/>
              <a:ext cx="1077273" cy="382687"/>
            </a:xfrm>
            <a:prstGeom prst="rect">
              <a:avLst/>
            </a:prstGeom>
            <a:noFill/>
            <a:ln>
              <a:noFill/>
            </a:ln>
          </p:spPr>
        </p:pic>
        <p:sp>
          <p:nvSpPr>
            <p:cNvPr id="218" name="Google Shape;218;p32"/>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800"/>
                </a:spcAft>
                <a:buNone/>
              </a:pPr>
              <a:r>
                <a:t/>
              </a:r>
              <a:endParaRPr b="1">
                <a:solidFill>
                  <a:schemeClr val="dk1"/>
                </a:solidFill>
                <a:latin typeface="Raleway"/>
                <a:ea typeface="Raleway"/>
                <a:cs typeface="Raleway"/>
                <a:sym typeface="Raleway"/>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2" name="Shape 222"/>
        <p:cNvGrpSpPr/>
        <p:nvPr/>
      </p:nvGrpSpPr>
      <p:grpSpPr>
        <a:xfrm>
          <a:off x="0" y="0"/>
          <a:ext cx="0" cy="0"/>
          <a:chOff x="0" y="0"/>
          <a:chExt cx="0" cy="0"/>
        </a:xfrm>
      </p:grpSpPr>
      <p:pic>
        <p:nvPicPr>
          <p:cNvPr id="223" name="Google Shape;223;p33"/>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224" name="Google Shape;224;p33"/>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225" name="Google Shape;225;p33"/>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0"/>
              </a:spcBef>
              <a:spcAft>
                <a:spcPts val="1000"/>
              </a:spcAft>
              <a:buNone/>
            </a:pPr>
            <a:r>
              <a:rPr b="1" lang="ru" sz="1200">
                <a:solidFill>
                  <a:schemeClr val="dk2"/>
                </a:solidFill>
                <a:latin typeface="Raleway"/>
                <a:ea typeface="Raleway"/>
                <a:cs typeface="Raleway"/>
                <a:sym typeface="Raleway"/>
              </a:rPr>
              <a:t>Module 2: Introduction to Java</a:t>
            </a:r>
            <a:endParaRPr b="1" sz="3000">
              <a:solidFill>
                <a:schemeClr val="lt2"/>
              </a:solidFill>
              <a:latin typeface="Raleway"/>
              <a:ea typeface="Raleway"/>
              <a:cs typeface="Raleway"/>
              <a:sym typeface="Raleway"/>
            </a:endParaRPr>
          </a:p>
        </p:txBody>
      </p:sp>
      <p:sp>
        <p:nvSpPr>
          <p:cNvPr id="226" name="Google Shape;226;p33"/>
          <p:cNvSpPr txBox="1"/>
          <p:nvPr>
            <p:ph idx="4294967295" type="body"/>
          </p:nvPr>
        </p:nvSpPr>
        <p:spPr>
          <a:xfrm>
            <a:off x="2855550" y="929625"/>
            <a:ext cx="3432900" cy="3327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This module focused on the fundamentals of the Java programming language.</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I learned about variables, data types, operators, and control structures such as if-else statements and loops.</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The module also introduced basic Java syntax and simple programs.</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lang="ru" sz="1200">
                <a:latin typeface="Raleway"/>
                <a:ea typeface="Raleway"/>
                <a:cs typeface="Raleway"/>
                <a:sym typeface="Raleway"/>
              </a:rPr>
              <a:t>It helped me develop a foundation in object-oriented programming.</a:t>
            </a:r>
            <a:endParaRPr sz="1200">
              <a:latin typeface="Raleway"/>
              <a:ea typeface="Raleway"/>
              <a:cs typeface="Raleway"/>
              <a:sym typeface="Raleway"/>
            </a:endParaRPr>
          </a:p>
          <a:p>
            <a:pPr indent="0" lvl="0" marL="457200" rtl="0" algn="l">
              <a:spcBef>
                <a:spcPts val="1000"/>
              </a:spcBef>
              <a:spcAft>
                <a:spcPts val="0"/>
              </a:spcAft>
              <a:buNone/>
            </a:pPr>
            <a:r>
              <a:t/>
            </a:r>
            <a:endParaRPr sz="1200">
              <a:latin typeface="Raleway"/>
              <a:ea typeface="Raleway"/>
              <a:cs typeface="Raleway"/>
              <a:sym typeface="Raleway"/>
            </a:endParaRPr>
          </a:p>
          <a:p>
            <a:pPr indent="0" lvl="0" marL="457200" rtl="0" algn="l">
              <a:spcBef>
                <a:spcPts val="1000"/>
              </a:spcBef>
              <a:spcAft>
                <a:spcPts val="1000"/>
              </a:spcAft>
              <a:buNone/>
            </a:pPr>
            <a:r>
              <a:t/>
            </a:r>
            <a:endParaRPr sz="1200">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idx="4294967295" type="title"/>
          </p:nvPr>
        </p:nvSpPr>
        <p:spPr>
          <a:xfrm>
            <a:off x="595575" y="181325"/>
            <a:ext cx="5971200" cy="76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2"/>
              </a:buClr>
              <a:buSzPts val="1100"/>
              <a:buFont typeface="Arial"/>
              <a:buNone/>
            </a:pPr>
            <a:r>
              <a:rPr lang="ru" sz="1800">
                <a:latin typeface="Lato"/>
                <a:ea typeface="Lato"/>
                <a:cs typeface="Lato"/>
                <a:sym typeface="Lato"/>
              </a:rPr>
              <a:t>Java vs JavaScript</a:t>
            </a:r>
            <a:endParaRPr sz="2500"/>
          </a:p>
        </p:txBody>
      </p:sp>
      <p:sp>
        <p:nvSpPr>
          <p:cNvPr id="232" name="Google Shape;232;p34"/>
          <p:cNvSpPr txBox="1"/>
          <p:nvPr>
            <p:ph idx="4294967295" type="title"/>
          </p:nvPr>
        </p:nvSpPr>
        <p:spPr>
          <a:xfrm>
            <a:off x="789950" y="687675"/>
            <a:ext cx="5123700" cy="2459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b="0" lang="ru" sz="1700">
                <a:latin typeface="Lato"/>
                <a:ea typeface="Lato"/>
                <a:cs typeface="Lato"/>
                <a:sym typeface="Lato"/>
              </a:rPr>
              <a:t>Java vs JavaScript</a:t>
            </a:r>
            <a:endParaRPr b="0" sz="1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700">
                <a:latin typeface="Lato"/>
                <a:ea typeface="Lato"/>
                <a:cs typeface="Lato"/>
                <a:sym typeface="Lato"/>
              </a:rPr>
              <a:t>Java ≠ JavaScript</a:t>
            </a:r>
            <a:endParaRPr b="0" sz="1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700">
                <a:latin typeface="Lato"/>
                <a:ea typeface="Lato"/>
                <a:cs typeface="Lato"/>
                <a:sym typeface="Lato"/>
              </a:rPr>
              <a:t>Java: backend, applications</a:t>
            </a:r>
            <a:endParaRPr b="0" sz="1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700">
                <a:latin typeface="Lato"/>
                <a:ea typeface="Lato"/>
                <a:cs typeface="Lato"/>
                <a:sym typeface="Lato"/>
              </a:rPr>
              <a:t>JavaScript: web interaction</a:t>
            </a:r>
            <a:endParaRPr b="0" sz="1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lang="ru" sz="1700">
                <a:latin typeface="Lato"/>
                <a:ea typeface="Lato"/>
                <a:cs typeface="Lato"/>
                <a:sym typeface="Lato"/>
              </a:rPr>
              <a:t>Basic Java Syntax</a:t>
            </a:r>
            <a:endParaRPr sz="1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700">
                <a:latin typeface="Lato"/>
                <a:ea typeface="Lato"/>
                <a:cs typeface="Lato"/>
                <a:sym typeface="Lato"/>
              </a:rPr>
              <a:t>Variables</a:t>
            </a:r>
            <a:endParaRPr b="0" sz="1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700">
                <a:latin typeface="Lato"/>
                <a:ea typeface="Lato"/>
                <a:cs typeface="Lato"/>
                <a:sym typeface="Lato"/>
              </a:rPr>
              <a:t>Data types</a:t>
            </a:r>
            <a:endParaRPr b="0" sz="1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b="0" lang="ru" sz="1800">
                <a:latin typeface="Lato"/>
                <a:ea typeface="Lato"/>
                <a:cs typeface="Lato"/>
                <a:sym typeface="Lato"/>
              </a:rPr>
              <a:t>Operators</a:t>
            </a:r>
            <a:endParaRPr b="0" sz="1800">
              <a:latin typeface="Lato"/>
              <a:ea typeface="Lato"/>
              <a:cs typeface="Lato"/>
              <a:sym typeface="Lato"/>
            </a:endParaRPr>
          </a:p>
          <a:p>
            <a:pPr indent="0" lvl="0" marL="0" rtl="0" algn="l">
              <a:lnSpc>
                <a:spcPct val="115000"/>
              </a:lnSpc>
              <a:spcBef>
                <a:spcPts val="1600"/>
              </a:spcBef>
              <a:spcAft>
                <a:spcPts val="1600"/>
              </a:spcAft>
              <a:buNone/>
            </a:pPr>
            <a:r>
              <a:t/>
            </a:r>
            <a:endParaRPr b="0" sz="1800">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6" name="Shape 236"/>
        <p:cNvGrpSpPr/>
        <p:nvPr/>
      </p:nvGrpSpPr>
      <p:grpSpPr>
        <a:xfrm>
          <a:off x="0" y="0"/>
          <a:ext cx="0" cy="0"/>
          <a:chOff x="0" y="0"/>
          <a:chExt cx="0" cy="0"/>
        </a:xfrm>
      </p:grpSpPr>
      <p:pic>
        <p:nvPicPr>
          <p:cNvPr id="237" name="Google Shape;237;p35"/>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238" name="Google Shape;238;p35"/>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239" name="Google Shape;239;p35"/>
          <p:cNvSpPr txBox="1"/>
          <p:nvPr>
            <p:ph idx="4294967295" type="body"/>
          </p:nvPr>
        </p:nvSpPr>
        <p:spPr>
          <a:xfrm>
            <a:off x="2975150" y="1033575"/>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Raleway"/>
              <a:ea typeface="Raleway"/>
              <a:cs typeface="Raleway"/>
              <a:sym typeface="Raleway"/>
            </a:endParaRPr>
          </a:p>
          <a:p>
            <a:pPr indent="0" lvl="0" marL="457200" rtl="0" algn="l">
              <a:spcBef>
                <a:spcPts val="1000"/>
              </a:spcBef>
              <a:spcAft>
                <a:spcPts val="0"/>
              </a:spcAft>
              <a:buClr>
                <a:schemeClr val="dk2"/>
              </a:buClr>
              <a:buSzPts val="1100"/>
              <a:buFont typeface="Arial"/>
              <a:buNone/>
            </a:pPr>
            <a:r>
              <a:rPr lang="ru" sz="1200">
                <a:latin typeface="Raleway"/>
                <a:ea typeface="Raleway"/>
                <a:cs typeface="Raleway"/>
                <a:sym typeface="Raleway"/>
              </a:rPr>
              <a:t>There are three ways to use CSS:</a:t>
            </a:r>
            <a:endParaRPr sz="1200">
              <a:latin typeface="Raleway"/>
              <a:ea typeface="Raleway"/>
              <a:cs typeface="Raleway"/>
              <a:sym typeface="Raleway"/>
            </a:endParaRPr>
          </a:p>
          <a:p>
            <a:pPr indent="0" lvl="0" marL="457200" rtl="0" algn="l">
              <a:spcBef>
                <a:spcPts val="1000"/>
              </a:spcBef>
              <a:spcAft>
                <a:spcPts val="0"/>
              </a:spcAft>
              <a:buClr>
                <a:schemeClr val="dk2"/>
              </a:buClr>
              <a:buSzPts val="1100"/>
              <a:buFont typeface="Arial"/>
              <a:buNone/>
            </a:pPr>
            <a:r>
              <a:rPr lang="ru" sz="1200">
                <a:latin typeface="Raleway"/>
                <a:ea typeface="Raleway"/>
                <a:cs typeface="Raleway"/>
                <a:sym typeface="Raleway"/>
              </a:rPr>
              <a:t>Inline CSS</a:t>
            </a:r>
            <a:endParaRPr sz="1200">
              <a:latin typeface="Raleway"/>
              <a:ea typeface="Raleway"/>
              <a:cs typeface="Raleway"/>
              <a:sym typeface="Raleway"/>
            </a:endParaRPr>
          </a:p>
          <a:p>
            <a:pPr indent="0" lvl="0" marL="457200" rtl="0" algn="l">
              <a:spcBef>
                <a:spcPts val="1000"/>
              </a:spcBef>
              <a:spcAft>
                <a:spcPts val="0"/>
              </a:spcAft>
              <a:buClr>
                <a:schemeClr val="dk2"/>
              </a:buClr>
              <a:buSzPts val="1100"/>
              <a:buFont typeface="Arial"/>
              <a:buNone/>
            </a:pPr>
            <a:r>
              <a:rPr lang="ru" sz="1200">
                <a:latin typeface="Raleway"/>
                <a:ea typeface="Raleway"/>
                <a:cs typeface="Raleway"/>
                <a:sym typeface="Raleway"/>
              </a:rPr>
              <a:t>Internal CSS</a:t>
            </a:r>
            <a:endParaRPr sz="1200">
              <a:latin typeface="Raleway"/>
              <a:ea typeface="Raleway"/>
              <a:cs typeface="Raleway"/>
              <a:sym typeface="Raleway"/>
            </a:endParaRPr>
          </a:p>
          <a:p>
            <a:pPr indent="0" lvl="0" marL="457200" rtl="0" algn="l">
              <a:spcBef>
                <a:spcPts val="1000"/>
              </a:spcBef>
              <a:spcAft>
                <a:spcPts val="0"/>
              </a:spcAft>
              <a:buClr>
                <a:schemeClr val="dk2"/>
              </a:buClr>
              <a:buSzPts val="1100"/>
              <a:buFont typeface="Arial"/>
              <a:buNone/>
            </a:pPr>
            <a:r>
              <a:rPr lang="ru" sz="1200">
                <a:latin typeface="Raleway"/>
                <a:ea typeface="Raleway"/>
                <a:cs typeface="Raleway"/>
                <a:sym typeface="Raleway"/>
              </a:rPr>
              <a:t>External CSS</a:t>
            </a:r>
            <a:endParaRPr sz="1200">
              <a:latin typeface="Raleway"/>
              <a:ea typeface="Raleway"/>
              <a:cs typeface="Raleway"/>
              <a:sym typeface="Raleway"/>
            </a:endParaRPr>
          </a:p>
          <a:p>
            <a:pPr indent="0" lvl="0" marL="457200" rtl="0" algn="l">
              <a:spcBef>
                <a:spcPts val="1000"/>
              </a:spcBef>
              <a:spcAft>
                <a:spcPts val="1000"/>
              </a:spcAft>
              <a:buNone/>
            </a:pPr>
            <a:r>
              <a:t/>
            </a:r>
            <a:endParaRPr sz="1200">
              <a:latin typeface="Raleway"/>
              <a:ea typeface="Raleway"/>
              <a:cs typeface="Raleway"/>
              <a:sym typeface="Ralew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6"/>
          <p:cNvSpPr txBox="1"/>
          <p:nvPr>
            <p:ph type="title"/>
          </p:nvPr>
        </p:nvSpPr>
        <p:spPr>
          <a:xfrm>
            <a:off x="628600" y="587525"/>
            <a:ext cx="4045200" cy="363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ru" sz="1700">
                <a:solidFill>
                  <a:schemeClr val="lt2"/>
                </a:solidFill>
                <a:latin typeface="Lato"/>
                <a:ea typeface="Lato"/>
                <a:cs typeface="Lato"/>
                <a:sym typeface="Lato"/>
              </a:rPr>
              <a:t>Ways to Use CSS</a:t>
            </a:r>
            <a:endParaRPr sz="1700">
              <a:solidFill>
                <a:schemeClr val="lt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0" lang="ru" sz="1700">
                <a:solidFill>
                  <a:schemeClr val="lt2"/>
                </a:solidFill>
                <a:latin typeface="Lato"/>
                <a:ea typeface="Lato"/>
                <a:cs typeface="Lato"/>
                <a:sym typeface="Lato"/>
              </a:rPr>
              <a:t>Inline CSS</a:t>
            </a:r>
            <a:endParaRPr b="0" sz="1700">
              <a:solidFill>
                <a:schemeClr val="lt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0" lang="ru" sz="1700">
                <a:solidFill>
                  <a:schemeClr val="lt2"/>
                </a:solidFill>
                <a:latin typeface="Lato"/>
                <a:ea typeface="Lato"/>
                <a:cs typeface="Lato"/>
                <a:sym typeface="Lato"/>
              </a:rPr>
              <a:t>Internal CSS</a:t>
            </a:r>
            <a:endParaRPr b="0" sz="1700">
              <a:solidFill>
                <a:schemeClr val="lt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0" lang="ru" sz="1700">
                <a:solidFill>
                  <a:schemeClr val="lt2"/>
                </a:solidFill>
                <a:latin typeface="Lato"/>
                <a:ea typeface="Lato"/>
                <a:cs typeface="Lato"/>
                <a:sym typeface="Lato"/>
              </a:rPr>
              <a:t>External CSS</a:t>
            </a:r>
            <a:endParaRPr b="0" sz="1700">
              <a:solidFill>
                <a:schemeClr val="lt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lang="ru" sz="1700">
                <a:solidFill>
                  <a:schemeClr val="lt2"/>
                </a:solidFill>
                <a:latin typeface="Lato"/>
                <a:ea typeface="Lato"/>
                <a:cs typeface="Lato"/>
                <a:sym typeface="Lato"/>
              </a:rPr>
              <a:t>Colors, Fonts, Text</a:t>
            </a:r>
            <a:endParaRPr sz="1700">
              <a:solidFill>
                <a:schemeClr val="lt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0" lang="ru" sz="1700">
                <a:solidFill>
                  <a:schemeClr val="lt2"/>
                </a:solidFill>
                <a:latin typeface="Lato"/>
                <a:ea typeface="Lato"/>
                <a:cs typeface="Lato"/>
                <a:sym typeface="Lato"/>
              </a:rPr>
              <a:t>Font size and family</a:t>
            </a:r>
            <a:endParaRPr b="0" sz="1700">
              <a:solidFill>
                <a:schemeClr val="lt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0" lang="ru" sz="1700">
                <a:solidFill>
                  <a:schemeClr val="lt2"/>
                </a:solidFill>
                <a:latin typeface="Lato"/>
                <a:ea typeface="Lato"/>
                <a:cs typeface="Lato"/>
                <a:sym typeface="Lato"/>
              </a:rPr>
              <a:t>Text alignment</a:t>
            </a:r>
            <a:endParaRPr b="0" sz="1700">
              <a:solidFill>
                <a:schemeClr val="lt2"/>
              </a:solidFill>
              <a:latin typeface="Lato"/>
              <a:ea typeface="Lato"/>
              <a:cs typeface="Lato"/>
              <a:sym typeface="Lato"/>
            </a:endParaRPr>
          </a:p>
          <a:p>
            <a:pPr indent="0" lvl="0" marL="0" rtl="0" algn="l">
              <a:spcBef>
                <a:spcPts val="0"/>
              </a:spcBef>
              <a:spcAft>
                <a:spcPts val="0"/>
              </a:spcAft>
              <a:buClr>
                <a:schemeClr val="dk2"/>
              </a:buClr>
              <a:buSzPts val="1100"/>
              <a:buFont typeface="Arial"/>
              <a:buNone/>
            </a:pPr>
            <a:r>
              <a:rPr b="0" lang="ru" sz="1700">
                <a:solidFill>
                  <a:schemeClr val="lt2"/>
                </a:solidFill>
                <a:latin typeface="Lato"/>
                <a:ea typeface="Lato"/>
                <a:cs typeface="Lato"/>
                <a:sym typeface="Lato"/>
              </a:rPr>
              <a:t>Colors and backgrounds</a:t>
            </a:r>
            <a:endParaRPr b="0" sz="1700">
              <a:solidFill>
                <a:schemeClr val="lt2"/>
              </a:solidFill>
              <a:latin typeface="Lato"/>
              <a:ea typeface="Lato"/>
              <a:cs typeface="Lato"/>
              <a:sym typeface="Lato"/>
            </a:endParaRPr>
          </a:p>
          <a:p>
            <a:pPr indent="0" lvl="0" marL="0" rtl="0" algn="l">
              <a:spcBef>
                <a:spcPts val="0"/>
              </a:spcBef>
              <a:spcAft>
                <a:spcPts val="0"/>
              </a:spcAft>
              <a:buNone/>
            </a:pPr>
            <a:r>
              <a:t/>
            </a:r>
            <a:endParaRPr b="0" sz="1200">
              <a:solidFill>
                <a:schemeClr val="lt2"/>
              </a:solidFill>
              <a:latin typeface="Lato"/>
              <a:ea typeface="Lato"/>
              <a:cs typeface="Lato"/>
              <a:sym typeface="Lato"/>
            </a:endParaRPr>
          </a:p>
        </p:txBody>
      </p:sp>
      <p:pic>
        <p:nvPicPr>
          <p:cNvPr id="245" name="Google Shape;245;p36"/>
          <p:cNvPicPr preferRelativeResize="0"/>
          <p:nvPr/>
        </p:nvPicPr>
        <p:blipFill>
          <a:blip r:embed="rId3">
            <a:alphaModFix amt="54000"/>
          </a:blip>
          <a:stretch>
            <a:fillRect/>
          </a:stretch>
        </p:blipFill>
        <p:spPr>
          <a:xfrm>
            <a:off x="6259750" y="476100"/>
            <a:ext cx="2480925" cy="2480925"/>
          </a:xfrm>
          <a:prstGeom prst="rect">
            <a:avLst/>
          </a:prstGeom>
          <a:noFill/>
          <a:ln>
            <a:noFill/>
          </a:ln>
        </p:spPr>
      </p:pic>
      <p:pic>
        <p:nvPicPr>
          <p:cNvPr id="246" name="Google Shape;246;p36"/>
          <p:cNvPicPr preferRelativeResize="0"/>
          <p:nvPr/>
        </p:nvPicPr>
        <p:blipFill>
          <a:blip r:embed="rId4">
            <a:alphaModFix amt="42000"/>
          </a:blip>
          <a:stretch>
            <a:fillRect/>
          </a:stretch>
        </p:blipFill>
        <p:spPr>
          <a:xfrm>
            <a:off x="4673800" y="1297750"/>
            <a:ext cx="3031200" cy="3031200"/>
          </a:xfrm>
          <a:prstGeom prst="rect">
            <a:avLst/>
          </a:prstGeom>
          <a:noFill/>
          <a:ln>
            <a:noFill/>
          </a:ln>
        </p:spPr>
      </p:pic>
      <p:sp>
        <p:nvSpPr>
          <p:cNvPr id="247" name="Google Shape;247;p36"/>
          <p:cNvSpPr txBox="1"/>
          <p:nvPr/>
        </p:nvSpPr>
        <p:spPr>
          <a:xfrm>
            <a:off x="283100" y="46549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1" name="Shape 251"/>
        <p:cNvGrpSpPr/>
        <p:nvPr/>
      </p:nvGrpSpPr>
      <p:grpSpPr>
        <a:xfrm>
          <a:off x="0" y="0"/>
          <a:ext cx="0" cy="0"/>
          <a:chOff x="0" y="0"/>
          <a:chExt cx="0" cy="0"/>
        </a:xfrm>
      </p:grpSpPr>
      <p:pic>
        <p:nvPicPr>
          <p:cNvPr id="252" name="Google Shape;252;p37"/>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253" name="Google Shape;253;p37"/>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254" name="Google Shape;254;p37"/>
          <p:cNvSpPr txBox="1"/>
          <p:nvPr/>
        </p:nvSpPr>
        <p:spPr>
          <a:xfrm>
            <a:off x="2728450" y="1068697"/>
            <a:ext cx="3432900" cy="7626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0"/>
              </a:spcBef>
              <a:spcAft>
                <a:spcPts val="0"/>
              </a:spcAft>
              <a:buNone/>
            </a:pPr>
            <a:r>
              <a:rPr b="1" lang="ru" sz="1200">
                <a:solidFill>
                  <a:schemeClr val="dk2"/>
                </a:solidFill>
                <a:latin typeface="Raleway"/>
                <a:ea typeface="Raleway"/>
                <a:cs typeface="Raleway"/>
                <a:sym typeface="Raleway"/>
              </a:rPr>
              <a:t>Module 4: Introduction to CSS</a:t>
            </a:r>
            <a:endParaRPr b="1" sz="1700">
              <a:solidFill>
                <a:schemeClr val="dk2"/>
              </a:solidFill>
              <a:latin typeface="Raleway"/>
              <a:ea typeface="Raleway"/>
              <a:cs typeface="Raleway"/>
              <a:sym typeface="Raleway"/>
            </a:endParaRPr>
          </a:p>
          <a:p>
            <a:pPr indent="0" lvl="0" marL="0" rtl="0" algn="l">
              <a:spcBef>
                <a:spcPts val="1000"/>
              </a:spcBef>
              <a:spcAft>
                <a:spcPts val="0"/>
              </a:spcAft>
              <a:buNone/>
            </a:pPr>
            <a:r>
              <a:t/>
            </a:r>
            <a:endParaRPr b="1" sz="3000">
              <a:solidFill>
                <a:schemeClr val="lt2"/>
              </a:solidFill>
              <a:latin typeface="Raleway"/>
              <a:ea typeface="Raleway"/>
              <a:cs typeface="Raleway"/>
              <a:sym typeface="Raleway"/>
            </a:endParaRPr>
          </a:p>
        </p:txBody>
      </p:sp>
      <p:sp>
        <p:nvSpPr>
          <p:cNvPr id="255" name="Google Shape;255;p37"/>
          <p:cNvSpPr txBox="1"/>
          <p:nvPr>
            <p:ph idx="4294967295" type="body"/>
          </p:nvPr>
        </p:nvSpPr>
        <p:spPr>
          <a:xfrm>
            <a:off x="2788250" y="907805"/>
            <a:ext cx="3432900" cy="3327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This module focused on CSS, which is used to style web pages.</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I learned how to apply colors, fonts, layouts, and spacing to HTML elements.</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The module also explained how CSS improves the visual appearance of websites.</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It helped me understand the separation of content and design.</a:t>
            </a:r>
            <a:endParaRPr b="1" sz="1200">
              <a:latin typeface="Raleway"/>
              <a:ea typeface="Raleway"/>
              <a:cs typeface="Raleway"/>
              <a:sym typeface="Raleway"/>
            </a:endParaRPr>
          </a:p>
          <a:p>
            <a:pPr indent="0" lvl="0" marL="457200" rtl="0" algn="l">
              <a:spcBef>
                <a:spcPts val="1000"/>
              </a:spcBef>
              <a:spcAft>
                <a:spcPts val="0"/>
              </a:spcAft>
              <a:buNone/>
            </a:pPr>
            <a:r>
              <a:t/>
            </a:r>
            <a:endParaRPr b="1" sz="1200">
              <a:latin typeface="Raleway"/>
              <a:ea typeface="Raleway"/>
              <a:cs typeface="Raleway"/>
              <a:sym typeface="Raleway"/>
            </a:endParaRPr>
          </a:p>
          <a:p>
            <a:pPr indent="0" lvl="0" marL="457200" rtl="0" algn="l">
              <a:spcBef>
                <a:spcPts val="1000"/>
              </a:spcBef>
              <a:spcAft>
                <a:spcPts val="0"/>
              </a:spcAft>
              <a:buNone/>
            </a:pPr>
            <a:r>
              <a:t/>
            </a:r>
            <a:endParaRPr b="1" sz="1200">
              <a:latin typeface="Raleway"/>
              <a:ea typeface="Raleway"/>
              <a:cs typeface="Raleway"/>
              <a:sym typeface="Raleway"/>
            </a:endParaRPr>
          </a:p>
          <a:p>
            <a:pPr indent="0" lvl="0" marL="457200" rtl="0" algn="l">
              <a:spcBef>
                <a:spcPts val="1000"/>
              </a:spcBef>
              <a:spcAft>
                <a:spcPts val="1000"/>
              </a:spcAft>
              <a:buNone/>
            </a:pPr>
            <a:r>
              <a:t/>
            </a:r>
            <a:endParaRPr b="1" sz="1200">
              <a:latin typeface="Raleway"/>
              <a:ea typeface="Raleway"/>
              <a:cs typeface="Raleway"/>
              <a:sym typeface="Ralew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type="title"/>
          </p:nvPr>
        </p:nvSpPr>
        <p:spPr>
          <a:xfrm>
            <a:off x="628600" y="587525"/>
            <a:ext cx="4045200" cy="363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ru" sz="1700">
                <a:solidFill>
                  <a:schemeClr val="lt2"/>
                </a:solidFill>
                <a:latin typeface="Lato"/>
                <a:ea typeface="Lato"/>
                <a:cs typeface="Lato"/>
                <a:sym typeface="Lato"/>
              </a:rPr>
              <a:t>Ways to Use CSS</a:t>
            </a:r>
            <a:endParaRPr sz="1700">
              <a:solidFill>
                <a:schemeClr val="lt2"/>
              </a:solidFill>
              <a:latin typeface="Lato"/>
              <a:ea typeface="Lato"/>
              <a:cs typeface="Lato"/>
              <a:sym typeface="Lato"/>
            </a:endParaRPr>
          </a:p>
          <a:p>
            <a:pPr indent="0" lvl="0" marL="0" rtl="0" algn="l">
              <a:spcBef>
                <a:spcPts val="0"/>
              </a:spcBef>
              <a:spcAft>
                <a:spcPts val="0"/>
              </a:spcAft>
              <a:buNone/>
            </a:pPr>
            <a:r>
              <a:rPr b="0" lang="ru" sz="1700">
                <a:solidFill>
                  <a:schemeClr val="lt2"/>
                </a:solidFill>
                <a:latin typeface="Lato"/>
                <a:ea typeface="Lato"/>
                <a:cs typeface="Lato"/>
                <a:sym typeface="Lato"/>
              </a:rPr>
              <a:t>Inline CSS</a:t>
            </a:r>
            <a:endParaRPr b="0" sz="1700">
              <a:solidFill>
                <a:schemeClr val="lt2"/>
              </a:solidFill>
              <a:latin typeface="Lato"/>
              <a:ea typeface="Lato"/>
              <a:cs typeface="Lato"/>
              <a:sym typeface="Lato"/>
            </a:endParaRPr>
          </a:p>
          <a:p>
            <a:pPr indent="0" lvl="0" marL="0" rtl="0" algn="l">
              <a:spcBef>
                <a:spcPts val="0"/>
              </a:spcBef>
              <a:spcAft>
                <a:spcPts val="0"/>
              </a:spcAft>
              <a:buNone/>
            </a:pPr>
            <a:r>
              <a:rPr b="0" lang="ru" sz="1700">
                <a:solidFill>
                  <a:schemeClr val="lt2"/>
                </a:solidFill>
                <a:latin typeface="Lato"/>
                <a:ea typeface="Lato"/>
                <a:cs typeface="Lato"/>
                <a:sym typeface="Lato"/>
              </a:rPr>
              <a:t>Internal CSS</a:t>
            </a:r>
            <a:endParaRPr b="0" sz="1700">
              <a:solidFill>
                <a:schemeClr val="lt2"/>
              </a:solidFill>
              <a:latin typeface="Lato"/>
              <a:ea typeface="Lato"/>
              <a:cs typeface="Lato"/>
              <a:sym typeface="Lato"/>
            </a:endParaRPr>
          </a:p>
          <a:p>
            <a:pPr indent="0" lvl="0" marL="0" rtl="0" algn="l">
              <a:spcBef>
                <a:spcPts val="0"/>
              </a:spcBef>
              <a:spcAft>
                <a:spcPts val="0"/>
              </a:spcAft>
              <a:buNone/>
            </a:pPr>
            <a:r>
              <a:rPr b="0" lang="ru" sz="1700">
                <a:solidFill>
                  <a:schemeClr val="lt2"/>
                </a:solidFill>
                <a:latin typeface="Lato"/>
                <a:ea typeface="Lato"/>
                <a:cs typeface="Lato"/>
                <a:sym typeface="Lato"/>
              </a:rPr>
              <a:t>External CSS</a:t>
            </a:r>
            <a:endParaRPr b="0" sz="1700">
              <a:solidFill>
                <a:schemeClr val="lt2"/>
              </a:solidFill>
              <a:latin typeface="Lato"/>
              <a:ea typeface="Lato"/>
              <a:cs typeface="Lato"/>
              <a:sym typeface="Lato"/>
            </a:endParaRPr>
          </a:p>
          <a:p>
            <a:pPr indent="0" lvl="0" marL="0" rtl="0" algn="l">
              <a:spcBef>
                <a:spcPts val="0"/>
              </a:spcBef>
              <a:spcAft>
                <a:spcPts val="0"/>
              </a:spcAft>
              <a:buNone/>
            </a:pPr>
            <a:r>
              <a:rPr lang="ru" sz="1700">
                <a:solidFill>
                  <a:schemeClr val="lt2"/>
                </a:solidFill>
                <a:latin typeface="Lato"/>
                <a:ea typeface="Lato"/>
                <a:cs typeface="Lato"/>
                <a:sym typeface="Lato"/>
              </a:rPr>
              <a:t>Colors, Fonts, Text</a:t>
            </a:r>
            <a:endParaRPr sz="1700">
              <a:solidFill>
                <a:schemeClr val="lt2"/>
              </a:solidFill>
              <a:latin typeface="Lato"/>
              <a:ea typeface="Lato"/>
              <a:cs typeface="Lato"/>
              <a:sym typeface="Lato"/>
            </a:endParaRPr>
          </a:p>
          <a:p>
            <a:pPr indent="0" lvl="0" marL="0" rtl="0" algn="l">
              <a:spcBef>
                <a:spcPts val="0"/>
              </a:spcBef>
              <a:spcAft>
                <a:spcPts val="0"/>
              </a:spcAft>
              <a:buNone/>
            </a:pPr>
            <a:r>
              <a:rPr b="0" lang="ru" sz="1700">
                <a:solidFill>
                  <a:schemeClr val="lt2"/>
                </a:solidFill>
                <a:latin typeface="Lato"/>
                <a:ea typeface="Lato"/>
                <a:cs typeface="Lato"/>
                <a:sym typeface="Lato"/>
              </a:rPr>
              <a:t>Font size and family</a:t>
            </a:r>
            <a:endParaRPr b="0" sz="1700">
              <a:solidFill>
                <a:schemeClr val="lt2"/>
              </a:solidFill>
              <a:latin typeface="Lato"/>
              <a:ea typeface="Lato"/>
              <a:cs typeface="Lato"/>
              <a:sym typeface="Lato"/>
            </a:endParaRPr>
          </a:p>
          <a:p>
            <a:pPr indent="0" lvl="0" marL="0" rtl="0" algn="l">
              <a:spcBef>
                <a:spcPts val="0"/>
              </a:spcBef>
              <a:spcAft>
                <a:spcPts val="0"/>
              </a:spcAft>
              <a:buNone/>
            </a:pPr>
            <a:r>
              <a:rPr b="0" lang="ru" sz="1700">
                <a:solidFill>
                  <a:schemeClr val="lt2"/>
                </a:solidFill>
                <a:latin typeface="Lato"/>
                <a:ea typeface="Lato"/>
                <a:cs typeface="Lato"/>
                <a:sym typeface="Lato"/>
              </a:rPr>
              <a:t>Text alignment</a:t>
            </a:r>
            <a:endParaRPr b="0" sz="1700">
              <a:solidFill>
                <a:schemeClr val="lt2"/>
              </a:solidFill>
              <a:latin typeface="Lato"/>
              <a:ea typeface="Lato"/>
              <a:cs typeface="Lato"/>
              <a:sym typeface="Lato"/>
            </a:endParaRPr>
          </a:p>
          <a:p>
            <a:pPr indent="0" lvl="0" marL="0" rtl="0" algn="l">
              <a:spcBef>
                <a:spcPts val="0"/>
              </a:spcBef>
              <a:spcAft>
                <a:spcPts val="0"/>
              </a:spcAft>
              <a:buNone/>
            </a:pPr>
            <a:r>
              <a:rPr b="0" lang="ru" sz="1700">
                <a:solidFill>
                  <a:schemeClr val="lt2"/>
                </a:solidFill>
                <a:latin typeface="Lato"/>
                <a:ea typeface="Lato"/>
                <a:cs typeface="Lato"/>
                <a:sym typeface="Lato"/>
              </a:rPr>
              <a:t>Colors and backgrounds</a:t>
            </a:r>
            <a:endParaRPr b="0" sz="1700">
              <a:solidFill>
                <a:schemeClr val="lt2"/>
              </a:solidFill>
              <a:latin typeface="Lato"/>
              <a:ea typeface="Lato"/>
              <a:cs typeface="Lato"/>
              <a:sym typeface="Lato"/>
            </a:endParaRPr>
          </a:p>
          <a:p>
            <a:pPr indent="0" lvl="0" marL="0" rtl="0" algn="l">
              <a:spcBef>
                <a:spcPts val="0"/>
              </a:spcBef>
              <a:spcAft>
                <a:spcPts val="0"/>
              </a:spcAft>
              <a:buNone/>
            </a:pPr>
            <a:r>
              <a:t/>
            </a:r>
            <a:endParaRPr b="0" sz="1200">
              <a:solidFill>
                <a:schemeClr val="lt2"/>
              </a:solidFill>
              <a:latin typeface="Lato"/>
              <a:ea typeface="Lato"/>
              <a:cs typeface="Lato"/>
              <a:sym typeface="Lato"/>
            </a:endParaRPr>
          </a:p>
        </p:txBody>
      </p:sp>
      <p:pic>
        <p:nvPicPr>
          <p:cNvPr id="261" name="Google Shape;261;p38"/>
          <p:cNvPicPr preferRelativeResize="0"/>
          <p:nvPr/>
        </p:nvPicPr>
        <p:blipFill>
          <a:blip r:embed="rId3">
            <a:alphaModFix amt="54000"/>
          </a:blip>
          <a:stretch>
            <a:fillRect/>
          </a:stretch>
        </p:blipFill>
        <p:spPr>
          <a:xfrm>
            <a:off x="6259750" y="476100"/>
            <a:ext cx="2480925" cy="2480925"/>
          </a:xfrm>
          <a:prstGeom prst="rect">
            <a:avLst/>
          </a:prstGeom>
          <a:noFill/>
          <a:ln>
            <a:noFill/>
          </a:ln>
        </p:spPr>
      </p:pic>
      <p:pic>
        <p:nvPicPr>
          <p:cNvPr id="262" name="Google Shape;262;p38"/>
          <p:cNvPicPr preferRelativeResize="0"/>
          <p:nvPr/>
        </p:nvPicPr>
        <p:blipFill>
          <a:blip r:embed="rId4">
            <a:alphaModFix amt="42000"/>
          </a:blip>
          <a:stretch>
            <a:fillRect/>
          </a:stretch>
        </p:blipFill>
        <p:spPr>
          <a:xfrm>
            <a:off x="4673800" y="1297750"/>
            <a:ext cx="3031200" cy="3031200"/>
          </a:xfrm>
          <a:prstGeom prst="rect">
            <a:avLst/>
          </a:prstGeom>
          <a:noFill/>
          <a:ln>
            <a:noFill/>
          </a:ln>
        </p:spPr>
      </p:pic>
      <p:sp>
        <p:nvSpPr>
          <p:cNvPr id="263" name="Google Shape;263;p38"/>
          <p:cNvSpPr txBox="1"/>
          <p:nvPr/>
        </p:nvSpPr>
        <p:spPr>
          <a:xfrm>
            <a:off x="283100" y="46549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Lato"/>
              <a:ea typeface="Lato"/>
              <a:cs typeface="Lato"/>
              <a:sym typeface="Lato"/>
            </a:endParaRPr>
          </a:p>
        </p:txBody>
      </p:sp>
      <p:pic>
        <p:nvPicPr>
          <p:cNvPr id="264" name="Google Shape;264;p38"/>
          <p:cNvPicPr preferRelativeResize="0"/>
          <p:nvPr/>
        </p:nvPicPr>
        <p:blipFill>
          <a:blip r:embed="rId5">
            <a:alphaModFix/>
          </a:blip>
          <a:stretch>
            <a:fillRect/>
          </a:stretch>
        </p:blipFill>
        <p:spPr>
          <a:xfrm>
            <a:off x="538850" y="209325"/>
            <a:ext cx="8066300" cy="47472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 name="Shape 268"/>
        <p:cNvGrpSpPr/>
        <p:nvPr/>
      </p:nvGrpSpPr>
      <p:grpSpPr>
        <a:xfrm>
          <a:off x="0" y="0"/>
          <a:ext cx="0" cy="0"/>
          <a:chOff x="0" y="0"/>
          <a:chExt cx="0" cy="0"/>
        </a:xfrm>
      </p:grpSpPr>
      <p:pic>
        <p:nvPicPr>
          <p:cNvPr id="269" name="Google Shape;269;p39"/>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Кусок клейкой ленты, который удерживает заметку на слайде" id="270" name="Google Shape;270;p39"/>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271" name="Google Shape;271;p39"/>
          <p:cNvSpPr txBox="1"/>
          <p:nvPr/>
        </p:nvSpPr>
        <p:spPr>
          <a:xfrm>
            <a:off x="2945250" y="1367722"/>
            <a:ext cx="3432900" cy="7626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0"/>
              </a:spcBef>
              <a:spcAft>
                <a:spcPts val="0"/>
              </a:spcAft>
              <a:buNone/>
            </a:pPr>
            <a:r>
              <a:rPr b="1" lang="ru" sz="1300">
                <a:solidFill>
                  <a:schemeClr val="dk2"/>
                </a:solidFill>
                <a:latin typeface="Raleway"/>
                <a:ea typeface="Raleway"/>
                <a:cs typeface="Raleway"/>
                <a:sym typeface="Raleway"/>
              </a:rPr>
              <a:t>Basic Java Syntax</a:t>
            </a:r>
            <a:endParaRPr b="1" sz="1700">
              <a:solidFill>
                <a:schemeClr val="dk2"/>
              </a:solidFill>
              <a:latin typeface="Raleway"/>
              <a:ea typeface="Raleway"/>
              <a:cs typeface="Raleway"/>
              <a:sym typeface="Raleway"/>
            </a:endParaRPr>
          </a:p>
          <a:p>
            <a:pPr indent="0" lvl="0" marL="0" rtl="0" algn="l">
              <a:spcBef>
                <a:spcPts val="1000"/>
              </a:spcBef>
              <a:spcAft>
                <a:spcPts val="0"/>
              </a:spcAft>
              <a:buNone/>
            </a:pPr>
            <a:r>
              <a:t/>
            </a:r>
            <a:endParaRPr b="1" sz="3000">
              <a:solidFill>
                <a:schemeClr val="lt2"/>
              </a:solidFill>
              <a:latin typeface="Raleway"/>
              <a:ea typeface="Raleway"/>
              <a:cs typeface="Raleway"/>
              <a:sym typeface="Raleway"/>
            </a:endParaRPr>
          </a:p>
        </p:txBody>
      </p:sp>
      <p:sp>
        <p:nvSpPr>
          <p:cNvPr id="272" name="Google Shape;272;p39"/>
          <p:cNvSpPr txBox="1"/>
          <p:nvPr>
            <p:ph idx="4294967295" type="body"/>
          </p:nvPr>
        </p:nvSpPr>
        <p:spPr>
          <a:xfrm>
            <a:off x="3094800" y="1474705"/>
            <a:ext cx="3432900" cy="3327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sz="1200">
              <a:latin typeface="Raleway"/>
              <a:ea typeface="Raleway"/>
              <a:cs typeface="Raleway"/>
              <a:sym typeface="Raleway"/>
            </a:endParaRPr>
          </a:p>
          <a:p>
            <a:pPr indent="0" lvl="0" marL="0" rtl="0" algn="l">
              <a:spcBef>
                <a:spcPts val="1000"/>
              </a:spcBef>
              <a:spcAft>
                <a:spcPts val="0"/>
              </a:spcAft>
              <a:buNone/>
            </a:pPr>
            <a:r>
              <a:rPr b="1" lang="ru" sz="1200">
                <a:latin typeface="Raleway"/>
                <a:ea typeface="Raleway"/>
                <a:cs typeface="Raleway"/>
                <a:sym typeface="Raleway"/>
              </a:rPr>
              <a:t>            Variables</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Data types</a:t>
            </a:r>
            <a:endParaRPr b="1" sz="1200">
              <a:latin typeface="Raleway"/>
              <a:ea typeface="Raleway"/>
              <a:cs typeface="Raleway"/>
              <a:sym typeface="Raleway"/>
            </a:endParaRPr>
          </a:p>
          <a:p>
            <a:pPr indent="0" lvl="0" marL="457200" rtl="0" algn="l">
              <a:spcBef>
                <a:spcPts val="1000"/>
              </a:spcBef>
              <a:spcAft>
                <a:spcPts val="0"/>
              </a:spcAft>
              <a:buNone/>
            </a:pPr>
            <a:r>
              <a:rPr b="1" lang="ru" sz="1200">
                <a:latin typeface="Raleway"/>
                <a:ea typeface="Raleway"/>
                <a:cs typeface="Raleway"/>
                <a:sym typeface="Raleway"/>
              </a:rPr>
              <a:t>Operators</a:t>
            </a:r>
            <a:endParaRPr b="1" sz="1200">
              <a:latin typeface="Raleway"/>
              <a:ea typeface="Raleway"/>
              <a:cs typeface="Raleway"/>
              <a:sym typeface="Raleway"/>
            </a:endParaRPr>
          </a:p>
          <a:p>
            <a:pPr indent="0" lvl="0" marL="457200" rtl="0" algn="l">
              <a:spcBef>
                <a:spcPts val="1000"/>
              </a:spcBef>
              <a:spcAft>
                <a:spcPts val="0"/>
              </a:spcAft>
              <a:buNone/>
            </a:pPr>
            <a:r>
              <a:t/>
            </a:r>
            <a:endParaRPr b="1" sz="1200">
              <a:latin typeface="Raleway"/>
              <a:ea typeface="Raleway"/>
              <a:cs typeface="Raleway"/>
              <a:sym typeface="Raleway"/>
            </a:endParaRPr>
          </a:p>
          <a:p>
            <a:pPr indent="0" lvl="0" marL="457200" rtl="0" algn="l">
              <a:spcBef>
                <a:spcPts val="1000"/>
              </a:spcBef>
              <a:spcAft>
                <a:spcPts val="1000"/>
              </a:spcAft>
              <a:buNone/>
            </a:pPr>
            <a:r>
              <a:t/>
            </a:r>
            <a:endParaRPr b="1" sz="1200">
              <a:latin typeface="Raleway"/>
              <a:ea typeface="Raleway"/>
              <a:cs typeface="Raleway"/>
              <a:sym typeface="Raleway"/>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40"/>
          <p:cNvPicPr preferRelativeResize="0"/>
          <p:nvPr/>
        </p:nvPicPr>
        <p:blipFill rotWithShape="1">
          <a:blip r:embed="rId3">
            <a:alphaModFix/>
          </a:blip>
          <a:srcRect b="14093" l="2132" r="6751" t="6554"/>
          <a:stretch/>
        </p:blipFill>
        <p:spPr>
          <a:xfrm>
            <a:off x="0" y="0"/>
            <a:ext cx="9144001" cy="5143500"/>
          </a:xfrm>
          <a:prstGeom prst="rect">
            <a:avLst/>
          </a:prstGeom>
          <a:noFill/>
          <a:ln>
            <a:noFill/>
          </a:ln>
        </p:spPr>
      </p:pic>
      <p:sp>
        <p:nvSpPr>
          <p:cNvPr id="278" name="Google Shape;278;p40"/>
          <p:cNvSpPr txBox="1"/>
          <p:nvPr>
            <p:ph type="title"/>
          </p:nvPr>
        </p:nvSpPr>
        <p:spPr>
          <a:xfrm>
            <a:off x="521699" y="1242950"/>
            <a:ext cx="86223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700"/>
              <a:t>Box Model</a:t>
            </a:r>
            <a:endParaRPr sz="1700"/>
          </a:p>
          <a:p>
            <a:pPr indent="0" lvl="0" marL="0" rtl="0" algn="l">
              <a:spcBef>
                <a:spcPts val="0"/>
              </a:spcBef>
              <a:spcAft>
                <a:spcPts val="0"/>
              </a:spcAft>
              <a:buNone/>
            </a:pPr>
            <a:r>
              <a:rPr lang="ru" sz="1700"/>
              <a:t>Margin</a:t>
            </a:r>
            <a:endParaRPr sz="1700"/>
          </a:p>
          <a:p>
            <a:pPr indent="0" lvl="0" marL="0" rtl="0" algn="l">
              <a:spcBef>
                <a:spcPts val="0"/>
              </a:spcBef>
              <a:spcAft>
                <a:spcPts val="0"/>
              </a:spcAft>
              <a:buNone/>
            </a:pPr>
            <a:r>
              <a:rPr lang="ru" sz="1700"/>
              <a:t>Border</a:t>
            </a:r>
            <a:endParaRPr sz="1700"/>
          </a:p>
          <a:p>
            <a:pPr indent="0" lvl="0" marL="0" rtl="0" algn="l">
              <a:spcBef>
                <a:spcPts val="0"/>
              </a:spcBef>
              <a:spcAft>
                <a:spcPts val="0"/>
              </a:spcAft>
              <a:buNone/>
            </a:pPr>
            <a:r>
              <a:rPr lang="ru" sz="1700"/>
              <a:t>Padding</a:t>
            </a:r>
            <a:endParaRPr sz="1700"/>
          </a:p>
          <a:p>
            <a:pPr indent="0" lvl="0" marL="0" rtl="0" algn="l">
              <a:spcBef>
                <a:spcPts val="0"/>
              </a:spcBef>
              <a:spcAft>
                <a:spcPts val="0"/>
              </a:spcAft>
              <a:buNone/>
            </a:pPr>
            <a:r>
              <a:rPr lang="ru" sz="1700"/>
              <a:t>Content</a:t>
            </a:r>
            <a:endParaRPr sz="1700"/>
          </a:p>
          <a:p>
            <a:pPr indent="0" lvl="0" marL="0" rtl="0" algn="l">
              <a:spcBef>
                <a:spcPts val="0"/>
              </a:spcBef>
              <a:spcAft>
                <a:spcPts val="0"/>
              </a:spcAft>
              <a:buNone/>
            </a:pPr>
            <a:r>
              <a:rPr lang="ru" sz="1700"/>
              <a:t>Slide 16 — Layout and Positioning</a:t>
            </a:r>
            <a:endParaRPr sz="1700"/>
          </a:p>
          <a:p>
            <a:pPr indent="0" lvl="0" marL="0" rtl="0" algn="l">
              <a:spcBef>
                <a:spcPts val="0"/>
              </a:spcBef>
              <a:spcAft>
                <a:spcPts val="0"/>
              </a:spcAft>
              <a:buClr>
                <a:schemeClr val="dk2"/>
              </a:buClr>
              <a:buSzPts val="1100"/>
              <a:buFont typeface="Arial"/>
              <a:buNone/>
            </a:pPr>
            <a:r>
              <a:rPr lang="ru" sz="1700"/>
              <a:t>Display types</a:t>
            </a:r>
            <a:endParaRPr sz="1700"/>
          </a:p>
          <a:p>
            <a:pPr indent="0" lvl="0" marL="0" rtl="0" algn="l">
              <a:spcBef>
                <a:spcPts val="0"/>
              </a:spcBef>
              <a:spcAft>
                <a:spcPts val="0"/>
              </a:spcAft>
              <a:buClr>
                <a:schemeClr val="dk2"/>
              </a:buClr>
              <a:buSzPts val="1100"/>
              <a:buFont typeface="Arial"/>
              <a:buNone/>
            </a:pPr>
            <a:r>
              <a:rPr lang="ru" sz="1700"/>
              <a:t>Flexbox basics</a:t>
            </a:r>
            <a:endParaRPr sz="1700"/>
          </a:p>
          <a:p>
            <a:pPr indent="0" lvl="0" marL="0" rtl="0" algn="l">
              <a:spcBef>
                <a:spcPts val="0"/>
              </a:spcBef>
              <a:spcAft>
                <a:spcPts val="0"/>
              </a:spcAft>
              <a:buClr>
                <a:schemeClr val="dk2"/>
              </a:buClr>
              <a:buSzPts val="1100"/>
              <a:buFont typeface="Arial"/>
              <a:buNone/>
            </a:pPr>
            <a:r>
              <a:rPr lang="ru" sz="1700"/>
              <a:t>Page structure design</a:t>
            </a:r>
            <a:endParaRPr sz="1700"/>
          </a:p>
          <a:p>
            <a:pPr indent="0" lvl="0" marL="0" rtl="0" algn="l">
              <a:spcBef>
                <a:spcPts val="0"/>
              </a:spcBef>
              <a:spcAft>
                <a:spcPts val="0"/>
              </a:spcAft>
              <a:buNone/>
            </a:pPr>
            <a:r>
              <a:t/>
            </a:r>
            <a:endParaRPr sz="1700"/>
          </a:p>
        </p:txBody>
      </p:sp>
      <p:grpSp>
        <p:nvGrpSpPr>
          <p:cNvPr id="279" name="Google Shape;279;p40"/>
          <p:cNvGrpSpPr/>
          <p:nvPr/>
        </p:nvGrpSpPr>
        <p:grpSpPr>
          <a:xfrm>
            <a:off x="6527188" y="1342629"/>
            <a:ext cx="2212050" cy="2537076"/>
            <a:chOff x="6803275" y="395363"/>
            <a:chExt cx="2212050" cy="2537076"/>
          </a:xfrm>
        </p:grpSpPr>
        <p:pic>
          <p:nvPicPr>
            <p:cNvPr id="280" name="Google Shape;280;p40"/>
            <p:cNvPicPr preferRelativeResize="0"/>
            <p:nvPr/>
          </p:nvPicPr>
          <p:blipFill>
            <a:blip r:embed="rId4">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281" name="Google Shape;281;p40"/>
            <p:cNvPicPr preferRelativeResize="0"/>
            <p:nvPr/>
          </p:nvPicPr>
          <p:blipFill rotWithShape="1">
            <a:blip r:embed="rId5">
              <a:alphaModFix/>
            </a:blip>
            <a:srcRect b="10011" l="9244" r="2118" t="5926"/>
            <a:stretch/>
          </p:blipFill>
          <p:spPr>
            <a:xfrm rot="154826">
              <a:off x="7370663" y="419419"/>
              <a:ext cx="1077273" cy="382687"/>
            </a:xfrm>
            <a:prstGeom prst="rect">
              <a:avLst/>
            </a:prstGeom>
            <a:noFill/>
            <a:ln>
              <a:noFill/>
            </a:ln>
          </p:spPr>
        </p:pic>
        <p:sp>
          <p:nvSpPr>
            <p:cNvPr id="282" name="Google Shape;282;p40"/>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800"/>
                </a:spcAft>
                <a:buNone/>
              </a:pPr>
              <a:r>
                <a:t/>
              </a:r>
              <a:endParaRPr b="1">
                <a:solidFill>
                  <a:schemeClr val="dk1"/>
                </a:solidFill>
                <a:latin typeface="Raleway"/>
                <a:ea typeface="Raleway"/>
                <a:cs typeface="Raleway"/>
                <a:sym typeface="Raleway"/>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41"/>
          <p:cNvPicPr preferRelativeResize="0"/>
          <p:nvPr/>
        </p:nvPicPr>
        <p:blipFill rotWithShape="1">
          <a:blip r:embed="rId3">
            <a:alphaModFix/>
          </a:blip>
          <a:srcRect b="14093" l="2132" r="6751" t="6554"/>
          <a:stretch/>
        </p:blipFill>
        <p:spPr>
          <a:xfrm>
            <a:off x="0" y="0"/>
            <a:ext cx="9144001" cy="5143500"/>
          </a:xfrm>
          <a:prstGeom prst="rect">
            <a:avLst/>
          </a:prstGeom>
          <a:noFill/>
          <a:ln>
            <a:noFill/>
          </a:ln>
        </p:spPr>
      </p:pic>
      <p:sp>
        <p:nvSpPr>
          <p:cNvPr id="288" name="Google Shape;288;p41"/>
          <p:cNvSpPr txBox="1"/>
          <p:nvPr>
            <p:ph type="title"/>
          </p:nvPr>
        </p:nvSpPr>
        <p:spPr>
          <a:xfrm>
            <a:off x="469374" y="1160725"/>
            <a:ext cx="86223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sz="1700"/>
          </a:p>
          <a:p>
            <a:pPr indent="0" lvl="0" marL="0" rtl="0" algn="l">
              <a:spcBef>
                <a:spcPts val="0"/>
              </a:spcBef>
              <a:spcAft>
                <a:spcPts val="0"/>
              </a:spcAft>
              <a:buClr>
                <a:schemeClr val="dk2"/>
              </a:buClr>
              <a:buSzPts val="1100"/>
              <a:buFont typeface="Arial"/>
              <a:buNone/>
            </a:pPr>
            <a:r>
              <a:rPr lang="ru" sz="2100"/>
              <a:t>Colors and Fonts</a:t>
            </a:r>
            <a:endParaRPr sz="2100"/>
          </a:p>
          <a:p>
            <a:pPr indent="0" lvl="0" marL="0" rtl="0" algn="l">
              <a:spcBef>
                <a:spcPts val="0"/>
              </a:spcBef>
              <a:spcAft>
                <a:spcPts val="0"/>
              </a:spcAft>
              <a:buNone/>
            </a:pPr>
            <a:r>
              <a:rPr lang="ru" sz="2100"/>
              <a:t>CSS controls colors, fonts,</a:t>
            </a:r>
            <a:endParaRPr sz="2100"/>
          </a:p>
          <a:p>
            <a:pPr indent="0" lvl="0" marL="0" rtl="0" algn="l">
              <a:spcBef>
                <a:spcPts val="0"/>
              </a:spcBef>
              <a:spcAft>
                <a:spcPts val="0"/>
              </a:spcAft>
              <a:buClr>
                <a:schemeClr val="dk2"/>
              </a:buClr>
              <a:buSzPts val="1100"/>
              <a:buFont typeface="Arial"/>
              <a:buNone/>
            </a:pPr>
            <a:r>
              <a:rPr lang="ru" sz="2100"/>
              <a:t> text size, and alignment,</a:t>
            </a:r>
            <a:endParaRPr sz="2100"/>
          </a:p>
          <a:p>
            <a:pPr indent="0" lvl="0" marL="0" rtl="0" algn="l">
              <a:spcBef>
                <a:spcPts val="0"/>
              </a:spcBef>
              <a:spcAft>
                <a:spcPts val="0"/>
              </a:spcAft>
              <a:buClr>
                <a:schemeClr val="dk2"/>
              </a:buClr>
              <a:buSzPts val="1100"/>
              <a:buFont typeface="Arial"/>
              <a:buNone/>
            </a:pPr>
            <a:r>
              <a:rPr lang="ru" sz="2100"/>
              <a:t>making websites visually attractive.</a:t>
            </a:r>
            <a:endParaRPr sz="2100"/>
          </a:p>
          <a:p>
            <a:pPr indent="0" lvl="0" marL="0" rtl="0" algn="l">
              <a:spcBef>
                <a:spcPts val="0"/>
              </a:spcBef>
              <a:spcAft>
                <a:spcPts val="0"/>
              </a:spcAft>
              <a:buNone/>
            </a:pPr>
            <a:r>
              <a:t/>
            </a:r>
            <a:endParaRPr sz="1700"/>
          </a:p>
        </p:txBody>
      </p:sp>
      <p:grpSp>
        <p:nvGrpSpPr>
          <p:cNvPr id="289" name="Google Shape;289;p41"/>
          <p:cNvGrpSpPr/>
          <p:nvPr/>
        </p:nvGrpSpPr>
        <p:grpSpPr>
          <a:xfrm>
            <a:off x="6527188" y="1342629"/>
            <a:ext cx="2212050" cy="2537076"/>
            <a:chOff x="6803275" y="395363"/>
            <a:chExt cx="2212050" cy="2537076"/>
          </a:xfrm>
        </p:grpSpPr>
        <p:pic>
          <p:nvPicPr>
            <p:cNvPr id="290" name="Google Shape;290;p41"/>
            <p:cNvPicPr preferRelativeResize="0"/>
            <p:nvPr/>
          </p:nvPicPr>
          <p:blipFill>
            <a:blip r:embed="rId4">
              <a:alphaModFix/>
            </a:blip>
            <a:stretch>
              <a:fillRect/>
            </a:stretch>
          </p:blipFill>
          <p:spPr>
            <a:xfrm>
              <a:off x="6803275" y="427445"/>
              <a:ext cx="2212050" cy="2504994"/>
            </a:xfrm>
            <a:prstGeom prst="rect">
              <a:avLst/>
            </a:prstGeom>
            <a:noFill/>
            <a:ln>
              <a:noFill/>
            </a:ln>
          </p:spPr>
        </p:pic>
        <p:pic>
          <p:nvPicPr>
            <p:cNvPr descr="Кусок клейкой ленты, который удерживает заметку на слайде" id="291" name="Google Shape;291;p41"/>
            <p:cNvPicPr preferRelativeResize="0"/>
            <p:nvPr/>
          </p:nvPicPr>
          <p:blipFill rotWithShape="1">
            <a:blip r:embed="rId5">
              <a:alphaModFix/>
            </a:blip>
            <a:srcRect b="10011" l="9244" r="2118" t="5926"/>
            <a:stretch/>
          </p:blipFill>
          <p:spPr>
            <a:xfrm rot="154826">
              <a:off x="7370663" y="419419"/>
              <a:ext cx="1077273" cy="382687"/>
            </a:xfrm>
            <a:prstGeom prst="rect">
              <a:avLst/>
            </a:prstGeom>
            <a:noFill/>
            <a:ln>
              <a:noFill/>
            </a:ln>
          </p:spPr>
        </p:pic>
        <p:sp>
          <p:nvSpPr>
            <p:cNvPr id="292" name="Google Shape;292;p41"/>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ru" sz="1700">
                  <a:solidFill>
                    <a:schemeClr val="lt1"/>
                  </a:solidFill>
                  <a:latin typeface="Raleway"/>
                  <a:ea typeface="Raleway"/>
                  <a:cs typeface="Raleway"/>
                  <a:sym typeface="Raleway"/>
                </a:rPr>
                <a:t>Colors and Fonts</a:t>
              </a:r>
              <a:endParaRPr b="1" sz="1700">
                <a:solidFill>
                  <a:schemeClr val="lt1"/>
                </a:solidFill>
                <a:latin typeface="Raleway"/>
                <a:ea typeface="Raleway"/>
                <a:cs typeface="Raleway"/>
                <a:sym typeface="Raleway"/>
              </a:endParaRPr>
            </a:p>
            <a:p>
              <a:pPr indent="0" lvl="0" marL="0" rtl="0" algn="l">
                <a:spcBef>
                  <a:spcPts val="0"/>
                </a:spcBef>
                <a:spcAft>
                  <a:spcPts val="0"/>
                </a:spcAft>
                <a:buClr>
                  <a:schemeClr val="dk2"/>
                </a:buClr>
                <a:buSzPts val="1100"/>
                <a:buFont typeface="Arial"/>
                <a:buNone/>
              </a:pPr>
              <a:r>
                <a:rPr b="1" lang="ru" sz="1700">
                  <a:solidFill>
                    <a:schemeClr val="lt1"/>
                  </a:solidFill>
                  <a:latin typeface="Raleway"/>
                  <a:ea typeface="Raleway"/>
                  <a:cs typeface="Raleway"/>
                  <a:sym typeface="Raleway"/>
                </a:rPr>
                <a:t>CSS controls colors, fonts,</a:t>
              </a:r>
              <a:endParaRPr b="1" sz="1700">
                <a:solidFill>
                  <a:schemeClr val="lt1"/>
                </a:solidFill>
                <a:latin typeface="Raleway"/>
                <a:ea typeface="Raleway"/>
                <a:cs typeface="Raleway"/>
                <a:sym typeface="Raleway"/>
              </a:endParaRPr>
            </a:p>
            <a:p>
              <a:pPr indent="0" lvl="0" marL="0" rtl="0" algn="l">
                <a:spcBef>
                  <a:spcPts val="0"/>
                </a:spcBef>
                <a:spcAft>
                  <a:spcPts val="0"/>
                </a:spcAft>
                <a:buClr>
                  <a:schemeClr val="dk2"/>
                </a:buClr>
                <a:buSzPts val="1100"/>
                <a:buFont typeface="Arial"/>
                <a:buNone/>
              </a:pPr>
              <a:r>
                <a:rPr b="1" lang="ru" sz="1700">
                  <a:solidFill>
                    <a:schemeClr val="lt1"/>
                  </a:solidFill>
                  <a:latin typeface="Raleway"/>
                  <a:ea typeface="Raleway"/>
                  <a:cs typeface="Raleway"/>
                  <a:sym typeface="Raleway"/>
                </a:rPr>
                <a:t> text size, and alignment,</a:t>
              </a:r>
              <a:endParaRPr b="1" sz="1700">
                <a:solidFill>
                  <a:schemeClr val="lt1"/>
                </a:solidFill>
                <a:latin typeface="Raleway"/>
                <a:ea typeface="Raleway"/>
                <a:cs typeface="Raleway"/>
                <a:sym typeface="Raleway"/>
              </a:endParaRPr>
            </a:p>
            <a:p>
              <a:pPr indent="0" lvl="0" marL="0" rtl="0" algn="l">
                <a:spcBef>
                  <a:spcPts val="0"/>
                </a:spcBef>
                <a:spcAft>
                  <a:spcPts val="0"/>
                </a:spcAft>
                <a:buClr>
                  <a:schemeClr val="dk2"/>
                </a:buClr>
                <a:buSzPts val="1100"/>
                <a:buFont typeface="Arial"/>
                <a:buNone/>
              </a:pPr>
              <a:r>
                <a:rPr b="1" lang="ru" sz="1700">
                  <a:solidFill>
                    <a:schemeClr val="lt1"/>
                  </a:solidFill>
                  <a:latin typeface="Raleway"/>
                  <a:ea typeface="Raleway"/>
                  <a:cs typeface="Raleway"/>
                  <a:sym typeface="Raleway"/>
                </a:rPr>
                <a:t>making websites visually attractive.</a:t>
              </a:r>
              <a:endParaRPr b="1" sz="1700">
                <a:solidFill>
                  <a:schemeClr val="lt1"/>
                </a:solidFill>
                <a:latin typeface="Raleway"/>
                <a:ea typeface="Raleway"/>
                <a:cs typeface="Raleway"/>
                <a:sym typeface="Raleway"/>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6" name="Shape 296"/>
        <p:cNvGrpSpPr/>
        <p:nvPr/>
      </p:nvGrpSpPr>
      <p:grpSpPr>
        <a:xfrm>
          <a:off x="0" y="0"/>
          <a:ext cx="0" cy="0"/>
          <a:chOff x="0" y="0"/>
          <a:chExt cx="0" cy="0"/>
        </a:xfrm>
      </p:grpSpPr>
      <p:pic>
        <p:nvPicPr>
          <p:cNvPr id="297" name="Google Shape;297;p42"/>
          <p:cNvPicPr preferRelativeResize="0"/>
          <p:nvPr/>
        </p:nvPicPr>
        <p:blipFill>
          <a:blip r:embed="rId3">
            <a:alphaModFix/>
          </a:blip>
          <a:stretch>
            <a:fillRect/>
          </a:stretch>
        </p:blipFill>
        <p:spPr>
          <a:xfrm>
            <a:off x="2444700" y="162737"/>
            <a:ext cx="4254600" cy="4818038"/>
          </a:xfrm>
          <a:prstGeom prst="rect">
            <a:avLst/>
          </a:prstGeom>
          <a:noFill/>
          <a:ln>
            <a:noFill/>
          </a:ln>
        </p:spPr>
      </p:pic>
      <p:sp>
        <p:nvSpPr>
          <p:cNvPr id="298" name="Google Shape;298;p42"/>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b="1" sz="3000">
              <a:solidFill>
                <a:schemeClr val="lt2"/>
              </a:solidFill>
              <a:latin typeface="Raleway"/>
              <a:ea typeface="Raleway"/>
              <a:cs typeface="Raleway"/>
              <a:sym typeface="Raleway"/>
            </a:endParaRPr>
          </a:p>
        </p:txBody>
      </p:sp>
      <p:sp>
        <p:nvSpPr>
          <p:cNvPr id="299" name="Google Shape;299;p42"/>
          <p:cNvSpPr txBox="1"/>
          <p:nvPr>
            <p:ph idx="4294967295" type="body"/>
          </p:nvPr>
        </p:nvSpPr>
        <p:spPr>
          <a:xfrm>
            <a:off x="2796025" y="488550"/>
            <a:ext cx="3349200" cy="163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ru" sz="1100">
                <a:latin typeface="Raleway"/>
                <a:ea typeface="Raleway"/>
                <a:cs typeface="Raleway"/>
                <a:sym typeface="Raleway"/>
              </a:rPr>
              <a:t>Conclusion</a:t>
            </a:r>
            <a:endParaRPr b="1" sz="1100">
              <a:latin typeface="Raleway"/>
              <a:ea typeface="Raleway"/>
              <a:cs typeface="Raleway"/>
              <a:sym typeface="Raleway"/>
            </a:endParaRPr>
          </a:p>
          <a:p>
            <a:pPr indent="0" lvl="0" marL="0" rtl="0" algn="l">
              <a:spcBef>
                <a:spcPts val="1200"/>
              </a:spcBef>
              <a:spcAft>
                <a:spcPts val="0"/>
              </a:spcAft>
              <a:buClr>
                <a:schemeClr val="dk2"/>
              </a:buClr>
              <a:buSzPts val="1100"/>
              <a:buFont typeface="Arial"/>
              <a:buNone/>
            </a:pPr>
            <a:r>
              <a:rPr lang="ru" sz="1000">
                <a:latin typeface="Raleway"/>
                <a:ea typeface="Raleway"/>
                <a:cs typeface="Raleway"/>
                <a:sym typeface="Raleway"/>
              </a:rPr>
              <a:t>In conclusion, this Coursera course provided a strong foundation in HTML, CSS, and Java.It helped me understand how websites are structured, styled, and how basic programming logic works.Throughout the course, I learned how to create web pages using HTML, apply design and layout using CSS, and write simple programs using Java.hese skills are essential for anyone who wants to work in web development or software engineering.The course was well-structured and beginner-friendly, making complex topics easy to understand.Practical exercises and tasks helped reinforce theoretical knowledge and improve problem-solving skills.Overall, completing this course increased my confidence in coding and motivated me to continue learning more advanced technologies such as avaScript and frameworks.The knowledge gained from this course will be useful for my future academic projects and professional career.</a:t>
            </a:r>
            <a:endParaRPr sz="1000">
              <a:latin typeface="Raleway"/>
              <a:ea typeface="Raleway"/>
              <a:cs typeface="Raleway"/>
              <a:sym typeface="Raleway"/>
            </a:endParaRPr>
          </a:p>
          <a:p>
            <a:pPr indent="0" lvl="0" marL="0" rtl="0" algn="l">
              <a:spcBef>
                <a:spcPts val="1200"/>
              </a:spcBef>
              <a:spcAft>
                <a:spcPts val="1200"/>
              </a:spcAft>
              <a:buNone/>
            </a:pPr>
            <a:r>
              <a:t/>
            </a:r>
            <a:endParaRPr sz="1500">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